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1" r:id="rId6"/>
    <p:sldId id="262" r:id="rId7"/>
    <p:sldId id="263" r:id="rId8"/>
    <p:sldId id="264" r:id="rId9"/>
    <p:sldId id="265"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A21E39-0CF7-444B-9E08-38521256C5BD}" type="datetimeFigureOut">
              <a:rPr kumimoji="1" lang="ja-JP" altLang="en-US" smtClean="0"/>
              <a:t>2026/2/7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1E0134-A0D1-45BA-A7E7-F8CF222E6417}" type="slidenum">
              <a:rPr kumimoji="1" lang="ja-JP" altLang="en-US" smtClean="0"/>
              <a:t>‹#›</a:t>
            </a:fld>
            <a:endParaRPr kumimoji="1" lang="ja-JP" altLang="en-US"/>
          </a:p>
        </p:txBody>
      </p:sp>
    </p:spTree>
    <p:extLst>
      <p:ext uri="{BB962C8B-B14F-4D97-AF65-F5344CB8AC3E}">
        <p14:creationId xmlns:p14="http://schemas.microsoft.com/office/powerpoint/2010/main" val="303915726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u="none" strike="noStrike" kern="1200" baseline="0" dirty="0">
                <a:solidFill>
                  <a:schemeClr val="tx1"/>
                </a:solidFill>
                <a:latin typeface="+mn-lt"/>
                <a:ea typeface="+mn-ea"/>
                <a:cs typeface="+mn-cs"/>
              </a:rPr>
              <a:t>本研究では</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限られた開発期間内で効率的に成果を上げるために</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機能ごとに優先順位を設定し</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それぞれについて計画・設計・実装・テストの工程を小刻みに繰り返すアジャ</a:t>
            </a:r>
          </a:p>
          <a:p>
            <a:r>
              <a:rPr kumimoji="1" lang="ja-JP" altLang="en-US" sz="1200" b="0" i="0" u="none" strike="noStrike" kern="1200" baseline="0" dirty="0">
                <a:solidFill>
                  <a:schemeClr val="tx1"/>
                </a:solidFill>
                <a:latin typeface="+mn-lt"/>
                <a:ea typeface="+mn-ea"/>
                <a:cs typeface="+mn-cs"/>
              </a:rPr>
              <a:t>イル手法を採用した</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各段階で得られた知見や</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研究室内のメンバーからのフィードバックをもとに</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仕様や</a:t>
            </a:r>
            <a:r>
              <a:rPr kumimoji="1" lang="en-US" altLang="ja-JP" sz="1200" b="0" i="0" u="none" strike="noStrike" kern="1200" baseline="0" dirty="0">
                <a:solidFill>
                  <a:schemeClr val="tx1"/>
                </a:solidFill>
                <a:latin typeface="+mn-lt"/>
                <a:ea typeface="+mn-ea"/>
                <a:cs typeface="+mn-cs"/>
              </a:rPr>
              <a:t>UI </a:t>
            </a:r>
            <a:r>
              <a:rPr kumimoji="1" lang="ja-JP" altLang="en-US" sz="1200" b="0" i="0" u="none" strike="noStrike" kern="1200" baseline="0" dirty="0">
                <a:solidFill>
                  <a:schemeClr val="tx1"/>
                </a:solidFill>
                <a:latin typeface="+mn-lt"/>
                <a:ea typeface="+mn-ea"/>
                <a:cs typeface="+mn-cs"/>
              </a:rPr>
              <a:t>の見直しを行いながら</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柔軟に改善を重ねた</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これにより</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利用者の視点を反映した機能の追加や調整が可能となり</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アプリケーションの完成度と実用性を段階的に高めることができた</a:t>
            </a:r>
            <a:r>
              <a:rPr kumimoji="1" lang="en-US" altLang="ja-JP" sz="1200" b="0" i="0" u="none" strike="noStrike" kern="1200" baseline="0" dirty="0">
                <a:solidFill>
                  <a:schemeClr val="tx1"/>
                </a:solidFill>
                <a:latin typeface="+mn-lt"/>
                <a:ea typeface="+mn-ea"/>
                <a:cs typeface="+mn-cs"/>
              </a:rPr>
              <a:t>.</a:t>
            </a:r>
            <a:endParaRPr kumimoji="1" lang="ja-JP" altLang="en-US" dirty="0"/>
          </a:p>
        </p:txBody>
      </p:sp>
      <p:sp>
        <p:nvSpPr>
          <p:cNvPr id="4" name="スライド番号プレースホルダー 3"/>
          <p:cNvSpPr>
            <a:spLocks noGrp="1"/>
          </p:cNvSpPr>
          <p:nvPr>
            <p:ph type="sldNum" sz="quarter" idx="5"/>
          </p:nvPr>
        </p:nvSpPr>
        <p:spPr/>
        <p:txBody>
          <a:bodyPr/>
          <a:lstStyle/>
          <a:p>
            <a:fld id="{091E0134-A0D1-45BA-A7E7-F8CF222E6417}" type="slidenum">
              <a:rPr kumimoji="1" lang="ja-JP" altLang="en-US" smtClean="0"/>
              <a:t>3</a:t>
            </a:fld>
            <a:endParaRPr kumimoji="1" lang="ja-JP" altLang="en-US"/>
          </a:p>
        </p:txBody>
      </p:sp>
    </p:spTree>
    <p:extLst>
      <p:ext uri="{BB962C8B-B14F-4D97-AF65-F5344CB8AC3E}">
        <p14:creationId xmlns:p14="http://schemas.microsoft.com/office/powerpoint/2010/main" val="301583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CAB6ED-3D49-E9EB-9718-9748B629D38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6AEFD9E-8BFF-A502-81FE-CAA7F7BEED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68DA668-49C2-220A-688F-E10BF4AE9766}"/>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910ABE0C-AAC1-B532-722C-601E23F4740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FA13A76-A2CE-5A8D-3C7D-64F1D73F7F35}"/>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1727015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EAFE32-1242-3D27-FAEE-5A83A8196F5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8D16B7A-9F69-E88D-A917-F9B61FB2451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2EF8F80-925F-8C06-0C83-D34844DAE127}"/>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D2B03F83-230F-323A-C98E-144E6889848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7CB1F0-F25A-73C9-9061-090245124130}"/>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1443310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FF6E94-7F90-24C9-5357-CFB9C1003F6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C898CDC-CDA6-EAEE-882B-CD7ADAE9FB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EE6F0E9-2F23-6B3C-BCCA-CFF4DC400A96}"/>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EE2F0D2C-D7AE-4CAD-5DDA-70F6069F2D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C26BAD0-1821-214A-D7B3-7F10F512E4C6}"/>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882055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2E189B-36CE-1258-A1B2-406BAEBA782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3650558-A06E-CBC2-8774-1BB5F9C2AED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104E747-7049-C68F-D70B-54A85F7FBD9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65D7545-3CE1-144C-97F3-11B9E867A2F7}"/>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6" name="フッター プレースホルダー 5">
            <a:extLst>
              <a:ext uri="{FF2B5EF4-FFF2-40B4-BE49-F238E27FC236}">
                <a16:creationId xmlns:a16="http://schemas.microsoft.com/office/drawing/2014/main" id="{F9CAECCB-3639-F460-2F23-318DBA0DCE3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3D24971-B3BA-1354-6D3E-C85572AB4A54}"/>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4263815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A7B574-7228-55DE-213B-70A2DE00C27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6E4A03C-49E6-BF63-74CC-7183BF9D56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7AC681A-9181-03A6-7E37-7BCC2171679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23233AC-101A-D9B4-2049-36A70731F6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80737B7-3EAD-6B7C-E7CB-22283D61267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3B69AD4-02BD-B9CE-2D83-9D0FE9C6E42F}"/>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8" name="フッター プレースホルダー 7">
            <a:extLst>
              <a:ext uri="{FF2B5EF4-FFF2-40B4-BE49-F238E27FC236}">
                <a16:creationId xmlns:a16="http://schemas.microsoft.com/office/drawing/2014/main" id="{106A5F88-DCC1-04AD-C59A-822C1345FE6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C2034CF-585E-4CA0-58BC-B011D3BD1874}"/>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362120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3B2C49-A19D-DBC3-5260-DD3D5730D29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F480805-F437-8C5F-8760-F469FD2502B8}"/>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4" name="フッター プレースホルダー 3">
            <a:extLst>
              <a:ext uri="{FF2B5EF4-FFF2-40B4-BE49-F238E27FC236}">
                <a16:creationId xmlns:a16="http://schemas.microsoft.com/office/drawing/2014/main" id="{EA9A42A1-2836-D718-2BBE-4C7B3EC43CA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4736262-4F12-C271-26E3-D6DE9EA8A95C}"/>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2985564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8A8B5F0-7C8A-496E-C688-E0AF8343F2E7}"/>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3" name="フッター プレースホルダー 2">
            <a:extLst>
              <a:ext uri="{FF2B5EF4-FFF2-40B4-BE49-F238E27FC236}">
                <a16:creationId xmlns:a16="http://schemas.microsoft.com/office/drawing/2014/main" id="{75B9D9F9-EEA8-FD94-A1FC-BDBB0AE973A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373A67D-8950-CC68-2626-8B1A1C6E4221}"/>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1100445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C875CE-F77B-49B6-048B-46EA8837F4A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112AD57-6A56-B1CF-3D37-0CAB984AA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B491B93-D91A-DAE4-7D35-E398ADB5B5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B69D9EE-5DC9-7F21-5A63-A7D6AA468886}"/>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6" name="フッター プレースホルダー 5">
            <a:extLst>
              <a:ext uri="{FF2B5EF4-FFF2-40B4-BE49-F238E27FC236}">
                <a16:creationId xmlns:a16="http://schemas.microsoft.com/office/drawing/2014/main" id="{ADB26F46-1D52-A609-9CB0-3D78A06873A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23C2907-C410-308A-BFB2-C6A5618ED523}"/>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2855072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3EBA03-0E67-D34C-30CC-540B17C757E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24DF0BF-ACE8-7789-DC1D-7ECA22BEEF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BDBF047-7D8B-4C66-683A-C0030E8E0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C2BD443-09BA-7C36-45B3-346EBC8F29E8}"/>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6" name="フッター プレースホルダー 5">
            <a:extLst>
              <a:ext uri="{FF2B5EF4-FFF2-40B4-BE49-F238E27FC236}">
                <a16:creationId xmlns:a16="http://schemas.microsoft.com/office/drawing/2014/main" id="{0A65D462-BC7B-60D6-A7FC-EF8330408B3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679736B-6888-FA29-35EC-E5D72F3DE7C9}"/>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595848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572301-0263-8312-A08A-738A3697D46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90AFB7E-C055-81B9-C635-343F4C27671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E69191-869F-2586-C3DD-1FB98F3DFF34}"/>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0B926EFC-F8F7-5925-ED82-BF4A90CE8D0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1CCE3DF-7847-5C9B-A11E-8D623EF28F09}"/>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3686387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AD971ED-3DC1-0D27-A367-EB5CD4F9844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079A581-9E80-9726-0939-DFD173D7E31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E55BA64-B776-FD5D-E3A5-7C0495F4EB1F}"/>
              </a:ext>
            </a:extLst>
          </p:cNvPr>
          <p:cNvSpPr>
            <a:spLocks noGrp="1"/>
          </p:cNvSpPr>
          <p:nvPr>
            <p:ph type="dt" sz="half" idx="10"/>
          </p:nvPr>
        </p:nvSpPr>
        <p:spPr/>
        <p:txBody>
          <a:bodyPr/>
          <a:lstStyle/>
          <a:p>
            <a:fld id="{02624D2A-0E4D-43B2-850D-28BC4303C5D8}"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C36213DE-EE9D-2F72-BDEF-9FDD01C5C7B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0DCFA9A-B975-16C7-DD47-393E81CDB20D}"/>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1632992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C68367A-09F8-6AAE-DD9A-B071E7D2D0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FD39FE5-607F-0C19-F829-92413CF48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971BE34-F08C-4CF2-C61E-01C83B757E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624D2A-0E4D-43B2-850D-28BC4303C5D8}"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C1A2CC04-C84C-BF8C-A02D-964C968B69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7FCD39E-8BCA-CF08-71B3-A4210983AC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633489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hyperlink" Target="https://docs.djangoproject.com/ja/6.0/topics/signals/" TargetMode="External"/><Relationship Id="rId3" Type="http://schemas.openxmlformats.org/officeDocument/2006/relationships/hyperlink" Target="https://www.djangoproject.com/" TargetMode="External"/><Relationship Id="rId7" Type="http://schemas.openxmlformats.org/officeDocument/2006/relationships/hyperlink" Target="https://docs.mapbox.com/api/search/search-box/" TargetMode="External"/><Relationship Id="rId2" Type="http://schemas.openxmlformats.org/officeDocument/2006/relationships/hyperlink" Target="https://tabisio.com/" TargetMode="External"/><Relationship Id="rId1" Type="http://schemas.openxmlformats.org/officeDocument/2006/relationships/slideLayout" Target="../slideLayouts/slideLayout2.xml"/><Relationship Id="rId6" Type="http://schemas.openxmlformats.org/officeDocument/2006/relationships/hyperlink" Target="https://docs.mapbox.com/api/navigation/directions/" TargetMode="External"/><Relationship Id="rId5" Type="http://schemas.openxmlformats.org/officeDocument/2006/relationships/hyperlink" Target="https://developers.google.com/maps/documentation/javascript/overview?hl=ja" TargetMode="External"/><Relationship Id="rId10" Type="http://schemas.openxmlformats.org/officeDocument/2006/relationships/hyperlink" Target="https://fontawesome.com/" TargetMode="External"/><Relationship Id="rId4" Type="http://schemas.openxmlformats.org/officeDocument/2006/relationships/hyperlink" Target="https://github.com/" TargetMode="External"/><Relationship Id="rId9" Type="http://schemas.openxmlformats.org/officeDocument/2006/relationships/hyperlink" Target="https://getbootstrap.com/docs/5.1/getting-started/introduc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CFD4E0-3953-D2E6-760E-6B1E4C30BB21}"/>
              </a:ext>
            </a:extLst>
          </p:cNvPr>
          <p:cNvSpPr>
            <a:spLocks noGrp="1"/>
          </p:cNvSpPr>
          <p:nvPr>
            <p:ph type="ctrTitle"/>
          </p:nvPr>
        </p:nvSpPr>
        <p:spPr>
          <a:xfrm>
            <a:off x="1524000" y="1854200"/>
            <a:ext cx="9144000" cy="1014413"/>
          </a:xfrm>
        </p:spPr>
        <p:txBody>
          <a:bodyPr>
            <a:normAutofit fontScale="90000"/>
          </a:bodyPr>
          <a:lstStyle/>
          <a:p>
            <a:pPr>
              <a:lnSpc>
                <a:spcPts val="10500"/>
              </a:lnSpc>
            </a:pPr>
            <a:r>
              <a:rPr lang="ja-JP" altLang="en-US" dirty="0"/>
              <a:t>デジタル版しおりの開発</a:t>
            </a:r>
            <a:endParaRPr lang="en-US" altLang="ja-JP" b="1" spc="1125" dirty="0">
              <a:solidFill>
                <a:srgbClr val="242424"/>
              </a:solidFill>
              <a:latin typeface="Noto Sans JP Bold"/>
              <a:ea typeface="Noto Sans JP Bold"/>
              <a:cs typeface="Noto Sans JP Bold"/>
              <a:sym typeface="Noto Sans JP Bold"/>
            </a:endParaRPr>
          </a:p>
        </p:txBody>
      </p:sp>
      <p:sp>
        <p:nvSpPr>
          <p:cNvPr id="3" name="字幕 2">
            <a:extLst>
              <a:ext uri="{FF2B5EF4-FFF2-40B4-BE49-F238E27FC236}">
                <a16:creationId xmlns:a16="http://schemas.microsoft.com/office/drawing/2014/main" id="{36989B93-FDE5-945A-04BA-3F7B5E7175E3}"/>
              </a:ext>
            </a:extLst>
          </p:cNvPr>
          <p:cNvSpPr>
            <a:spLocks noGrp="1"/>
          </p:cNvSpPr>
          <p:nvPr>
            <p:ph type="subTitle" idx="1"/>
          </p:nvPr>
        </p:nvSpPr>
        <p:spPr/>
        <p:txBody>
          <a:bodyPr/>
          <a:lstStyle/>
          <a:p>
            <a:r>
              <a:rPr kumimoji="1" lang="en-US" altLang="ja-JP" dirty="0"/>
              <a:t>2026</a:t>
            </a:r>
            <a:r>
              <a:rPr kumimoji="1" lang="ja-JP" altLang="en-US" dirty="0"/>
              <a:t>年</a:t>
            </a:r>
            <a:r>
              <a:rPr kumimoji="1" lang="en-US" altLang="ja-JP" dirty="0"/>
              <a:t>2</a:t>
            </a:r>
            <a:r>
              <a:rPr kumimoji="1" lang="ja-JP" altLang="en-US" dirty="0"/>
              <a:t>月</a:t>
            </a:r>
            <a:r>
              <a:rPr kumimoji="1" lang="en-US" altLang="ja-JP" dirty="0"/>
              <a:t>16</a:t>
            </a:r>
            <a:r>
              <a:rPr kumimoji="1" lang="ja-JP" altLang="en-US" dirty="0"/>
              <a:t>日</a:t>
            </a:r>
            <a:endParaRPr kumimoji="1" lang="en-US" altLang="ja-JP" dirty="0"/>
          </a:p>
          <a:p>
            <a:r>
              <a:rPr lang="ja-JP" altLang="en-US" dirty="0"/>
              <a:t>関西学院大学　工学部　情報工学課程</a:t>
            </a:r>
            <a:endParaRPr lang="en-US" altLang="ja-JP" dirty="0"/>
          </a:p>
          <a:p>
            <a:r>
              <a:rPr kumimoji="1" lang="en-US" altLang="ja-JP" dirty="0"/>
              <a:t>37022463 </a:t>
            </a:r>
            <a:r>
              <a:rPr kumimoji="1" lang="ja-JP" altLang="en-US" dirty="0"/>
              <a:t>山本　果音</a:t>
            </a:r>
            <a:endParaRPr kumimoji="1" lang="en-US" altLang="ja-JP" dirty="0"/>
          </a:p>
        </p:txBody>
      </p:sp>
    </p:spTree>
    <p:extLst>
      <p:ext uri="{BB962C8B-B14F-4D97-AF65-F5344CB8AC3E}">
        <p14:creationId xmlns:p14="http://schemas.microsoft.com/office/powerpoint/2010/main" val="519079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3A834EA2-8868-882A-840F-97557239AEF0}"/>
              </a:ext>
            </a:extLst>
          </p:cNvPr>
          <p:cNvPicPr>
            <a:picLocks noChangeAspect="1"/>
          </p:cNvPicPr>
          <p:nvPr/>
        </p:nvPicPr>
        <p:blipFill>
          <a:blip r:embed="rId2"/>
          <a:stretch>
            <a:fillRect/>
          </a:stretch>
        </p:blipFill>
        <p:spPr>
          <a:xfrm>
            <a:off x="3995258" y="1447115"/>
            <a:ext cx="3462818" cy="1432065"/>
          </a:xfrm>
          <a:prstGeom prst="rect">
            <a:avLst/>
          </a:prstGeom>
        </p:spPr>
      </p:pic>
      <p:sp>
        <p:nvSpPr>
          <p:cNvPr id="4" name="テキスト ボックス 3">
            <a:extLst>
              <a:ext uri="{FF2B5EF4-FFF2-40B4-BE49-F238E27FC236}">
                <a16:creationId xmlns:a16="http://schemas.microsoft.com/office/drawing/2014/main" id="{FDCEA1A9-13B4-6897-FAC4-FD760C2AB8C0}"/>
              </a:ext>
            </a:extLst>
          </p:cNvPr>
          <p:cNvSpPr txBox="1"/>
          <p:nvPr/>
        </p:nvSpPr>
        <p:spPr>
          <a:xfrm>
            <a:off x="533400" y="222826"/>
            <a:ext cx="2209800" cy="584775"/>
          </a:xfrm>
          <a:prstGeom prst="rect">
            <a:avLst/>
          </a:prstGeom>
          <a:noFill/>
        </p:spPr>
        <p:txBody>
          <a:bodyPr wrap="square" rtlCol="0">
            <a:spAutoFit/>
          </a:bodyPr>
          <a:lstStyle/>
          <a:p>
            <a:r>
              <a:rPr lang="ja-JP" altLang="en-US" sz="3200" dirty="0"/>
              <a:t>研究背景</a:t>
            </a:r>
            <a:endParaRPr kumimoji="1" lang="ja-JP" altLang="en-US" sz="3200" dirty="0"/>
          </a:p>
        </p:txBody>
      </p:sp>
      <p:sp>
        <p:nvSpPr>
          <p:cNvPr id="5" name="テキスト ボックス 4">
            <a:extLst>
              <a:ext uri="{FF2B5EF4-FFF2-40B4-BE49-F238E27FC236}">
                <a16:creationId xmlns:a16="http://schemas.microsoft.com/office/drawing/2014/main" id="{B5E4BB7C-678E-90D9-F041-9DDD1EBDD5D1}"/>
              </a:ext>
            </a:extLst>
          </p:cNvPr>
          <p:cNvSpPr txBox="1"/>
          <p:nvPr/>
        </p:nvSpPr>
        <p:spPr>
          <a:xfrm>
            <a:off x="733425" y="1078130"/>
            <a:ext cx="10420350" cy="646331"/>
          </a:xfrm>
          <a:prstGeom prst="rect">
            <a:avLst/>
          </a:prstGeom>
          <a:noFill/>
        </p:spPr>
        <p:txBody>
          <a:bodyPr wrap="square" rtlCol="0">
            <a:spAutoFit/>
          </a:bodyPr>
          <a:lstStyle/>
          <a:p>
            <a:r>
              <a:rPr lang="ja-JP" altLang="en-US" dirty="0">
                <a:latin typeface="HaranoAjiMincho-Regular-Identity-H"/>
              </a:rPr>
              <a:t>しおり・・・旅程の把握や所持品の確認</a:t>
            </a:r>
            <a:r>
              <a:rPr lang="ja-JP" altLang="en-US" dirty="0">
                <a:latin typeface="CMR10"/>
              </a:rPr>
              <a:t>、</a:t>
            </a:r>
            <a:r>
              <a:rPr lang="ja-JP" altLang="en-US" dirty="0">
                <a:latin typeface="HaranoAjiMincho-Regular-Identity-H"/>
              </a:rPr>
              <a:t>集合時間の共有などを目的とした重要な情報媒体</a:t>
            </a:r>
            <a:endParaRPr lang="ja-JP" altLang="en-US" dirty="0"/>
          </a:p>
          <a:p>
            <a:endParaRPr kumimoji="1" lang="ja-JP" altLang="en-US" dirty="0"/>
          </a:p>
        </p:txBody>
      </p:sp>
      <p:sp>
        <p:nvSpPr>
          <p:cNvPr id="9" name="テキスト ボックス 8">
            <a:extLst>
              <a:ext uri="{FF2B5EF4-FFF2-40B4-BE49-F238E27FC236}">
                <a16:creationId xmlns:a16="http://schemas.microsoft.com/office/drawing/2014/main" id="{A73CA76E-4D70-CD2C-2495-65D895A34F31}"/>
              </a:ext>
            </a:extLst>
          </p:cNvPr>
          <p:cNvSpPr txBox="1"/>
          <p:nvPr/>
        </p:nvSpPr>
        <p:spPr>
          <a:xfrm>
            <a:off x="733425" y="2856478"/>
            <a:ext cx="6096000" cy="400110"/>
          </a:xfrm>
          <a:prstGeom prst="rect">
            <a:avLst/>
          </a:prstGeom>
          <a:noFill/>
        </p:spPr>
        <p:txBody>
          <a:bodyPr wrap="square">
            <a:spAutoFit/>
          </a:bodyPr>
          <a:lstStyle/>
          <a:p>
            <a:r>
              <a:rPr lang="ja-JP" altLang="en-US" sz="2000" u="sng" dirty="0"/>
              <a:t>旅しお</a:t>
            </a:r>
            <a:r>
              <a:rPr kumimoji="1" lang="ja-JP" altLang="en-US" sz="2000" u="sng" dirty="0"/>
              <a:t>での旅行計画のデメリット</a:t>
            </a:r>
          </a:p>
        </p:txBody>
      </p:sp>
      <p:sp>
        <p:nvSpPr>
          <p:cNvPr id="10" name="テキスト ボックス 9">
            <a:extLst>
              <a:ext uri="{FF2B5EF4-FFF2-40B4-BE49-F238E27FC236}">
                <a16:creationId xmlns:a16="http://schemas.microsoft.com/office/drawing/2014/main" id="{501223EC-ECBE-CB06-68EF-52F3F0DC7826}"/>
              </a:ext>
            </a:extLst>
          </p:cNvPr>
          <p:cNvSpPr txBox="1"/>
          <p:nvPr/>
        </p:nvSpPr>
        <p:spPr>
          <a:xfrm>
            <a:off x="628650" y="3371850"/>
            <a:ext cx="10420350" cy="2031325"/>
          </a:xfrm>
          <a:prstGeom prst="rect">
            <a:avLst/>
          </a:prstGeom>
          <a:noFill/>
        </p:spPr>
        <p:txBody>
          <a:bodyPr wrap="square" rtlCol="0">
            <a:spAutoFit/>
          </a:bodyPr>
          <a:lstStyle/>
          <a:p>
            <a:r>
              <a:rPr lang="ja-JP" altLang="en-US" dirty="0"/>
              <a:t>①</a:t>
            </a:r>
            <a:r>
              <a:rPr lang="en-US" altLang="ja-JP" dirty="0"/>
              <a:t> </a:t>
            </a:r>
            <a:r>
              <a:rPr lang="ja-JP" altLang="en-US" dirty="0"/>
              <a:t>旅行名や説明文に対するキーワード検索機能が存在しないため</a:t>
            </a:r>
            <a:r>
              <a:rPr lang="en-US" altLang="ja-JP" dirty="0"/>
              <a:t>, </a:t>
            </a:r>
          </a:p>
          <a:p>
            <a:r>
              <a:rPr lang="ja-JP" altLang="en-US" dirty="0"/>
              <a:t>スクロール操作によって目的のしおりを探す必要がある</a:t>
            </a:r>
            <a:endParaRPr lang="en-US" altLang="ja-JP" dirty="0"/>
          </a:p>
          <a:p>
            <a:endParaRPr lang="en-US" altLang="ja-JP" dirty="0"/>
          </a:p>
          <a:p>
            <a:r>
              <a:rPr lang="ja-JP" altLang="en-US" dirty="0"/>
              <a:t>②地図表示機能がないため</a:t>
            </a:r>
            <a:r>
              <a:rPr lang="en-US" altLang="ja-JP" dirty="0"/>
              <a:t>, </a:t>
            </a:r>
            <a:r>
              <a:rPr lang="ja-JP" altLang="en-US" dirty="0"/>
              <a:t>目的地の位置関係や全体像を視覚的に理解するこ</a:t>
            </a:r>
          </a:p>
          <a:p>
            <a:r>
              <a:rPr lang="ja-JP" altLang="en-US" dirty="0"/>
              <a:t>とが難しく</a:t>
            </a:r>
            <a:r>
              <a:rPr lang="en-US" altLang="ja-JP" dirty="0"/>
              <a:t>, </a:t>
            </a:r>
            <a:r>
              <a:rPr lang="ja-JP" altLang="en-US" dirty="0"/>
              <a:t>利用者は外部ツールや手作業で補完しなければならない</a:t>
            </a:r>
            <a:endParaRPr lang="en-US" altLang="ja-JP" dirty="0"/>
          </a:p>
          <a:p>
            <a:endParaRPr lang="en-US" altLang="ja-JP" dirty="0"/>
          </a:p>
          <a:p>
            <a:r>
              <a:rPr lang="ja-JP" altLang="en-US" dirty="0"/>
              <a:t>③</a:t>
            </a:r>
            <a:r>
              <a:rPr lang="en-US" altLang="ja-JP" dirty="0"/>
              <a:t> </a:t>
            </a:r>
            <a:r>
              <a:rPr lang="ja-JP" altLang="en-US" dirty="0"/>
              <a:t>移動時間の自動算出機能が存在しないため</a:t>
            </a:r>
            <a:r>
              <a:rPr lang="en-US" altLang="ja-JP" dirty="0"/>
              <a:t>, </a:t>
            </a:r>
            <a:r>
              <a:rPr lang="ja-JP" altLang="en-US" dirty="0"/>
              <a:t>各目的地間の所要時間を手動で調べる必要がある</a:t>
            </a:r>
            <a:endParaRPr kumimoji="1" lang="ja-JP" altLang="en-US" dirty="0"/>
          </a:p>
        </p:txBody>
      </p:sp>
      <p:sp>
        <p:nvSpPr>
          <p:cNvPr id="11" name="テキスト ボックス 10">
            <a:extLst>
              <a:ext uri="{FF2B5EF4-FFF2-40B4-BE49-F238E27FC236}">
                <a16:creationId xmlns:a16="http://schemas.microsoft.com/office/drawing/2014/main" id="{CC19E381-05FC-48B3-70EA-897E44EC0857}"/>
              </a:ext>
            </a:extLst>
          </p:cNvPr>
          <p:cNvSpPr txBox="1"/>
          <p:nvPr/>
        </p:nvSpPr>
        <p:spPr>
          <a:xfrm>
            <a:off x="2562225" y="5934670"/>
            <a:ext cx="9391650" cy="923330"/>
          </a:xfrm>
          <a:prstGeom prst="rect">
            <a:avLst/>
          </a:prstGeom>
          <a:noFill/>
        </p:spPr>
        <p:txBody>
          <a:bodyPr wrap="square" rtlCol="0">
            <a:spAutoFit/>
          </a:bodyPr>
          <a:lstStyle/>
          <a:p>
            <a:r>
              <a:rPr lang="ja-JP" altLang="en-US" dirty="0">
                <a:solidFill>
                  <a:srgbClr val="FF0000"/>
                </a:solidFill>
              </a:rPr>
              <a:t>視覚的な理解と効率的に旅行計画を行える</a:t>
            </a:r>
            <a:endParaRPr lang="en-US" altLang="ja-JP" dirty="0">
              <a:solidFill>
                <a:srgbClr val="FF0000"/>
              </a:solidFill>
            </a:endParaRPr>
          </a:p>
          <a:p>
            <a:r>
              <a:rPr lang="ja-JP" altLang="en-US" dirty="0">
                <a:solidFill>
                  <a:srgbClr val="FF0000"/>
                </a:solidFill>
              </a:rPr>
              <a:t>「デジタル版しおり」として機能する旅行アプリの開発を目指す</a:t>
            </a:r>
          </a:p>
          <a:p>
            <a:endParaRPr kumimoji="1" lang="ja-JP" altLang="en-US" dirty="0"/>
          </a:p>
        </p:txBody>
      </p:sp>
      <p:cxnSp>
        <p:nvCxnSpPr>
          <p:cNvPr id="14" name="直線矢印コネクタ 13">
            <a:extLst>
              <a:ext uri="{FF2B5EF4-FFF2-40B4-BE49-F238E27FC236}">
                <a16:creationId xmlns:a16="http://schemas.microsoft.com/office/drawing/2014/main" id="{888CC924-775C-0A8C-3C6C-85AFFE853891}"/>
              </a:ext>
            </a:extLst>
          </p:cNvPr>
          <p:cNvCxnSpPr/>
          <p:nvPr/>
        </p:nvCxnSpPr>
        <p:spPr>
          <a:xfrm>
            <a:off x="5076825" y="5358447"/>
            <a:ext cx="0" cy="495895"/>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 name="直線コネクタ 2">
            <a:extLst>
              <a:ext uri="{FF2B5EF4-FFF2-40B4-BE49-F238E27FC236}">
                <a16:creationId xmlns:a16="http://schemas.microsoft.com/office/drawing/2014/main" id="{0BD90132-D903-733D-C941-A77F286248BF}"/>
              </a:ext>
            </a:extLst>
          </p:cNvPr>
          <p:cNvCxnSpPr>
            <a:cxnSpLocks/>
          </p:cNvCxnSpPr>
          <p:nvPr/>
        </p:nvCxnSpPr>
        <p:spPr>
          <a:xfrm>
            <a:off x="0" y="908625"/>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9970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D2814-6939-6312-8E20-9EE73B8555C7}"/>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569AB13-DC81-F305-F7D2-A27A9F105BB1}"/>
              </a:ext>
            </a:extLst>
          </p:cNvPr>
          <p:cNvSpPr txBox="1"/>
          <p:nvPr/>
        </p:nvSpPr>
        <p:spPr>
          <a:xfrm>
            <a:off x="781050" y="246549"/>
            <a:ext cx="3133726" cy="646331"/>
          </a:xfrm>
          <a:prstGeom prst="rect">
            <a:avLst/>
          </a:prstGeom>
          <a:noFill/>
        </p:spPr>
        <p:txBody>
          <a:bodyPr wrap="square" rtlCol="0">
            <a:spAutoFit/>
          </a:bodyPr>
          <a:lstStyle/>
          <a:p>
            <a:r>
              <a:rPr kumimoji="1" lang="ja-JP" altLang="en-US" sz="3600" dirty="0"/>
              <a:t>開発手法</a:t>
            </a:r>
          </a:p>
        </p:txBody>
      </p:sp>
      <p:sp>
        <p:nvSpPr>
          <p:cNvPr id="3" name="テキスト ボックス 2">
            <a:extLst>
              <a:ext uri="{FF2B5EF4-FFF2-40B4-BE49-F238E27FC236}">
                <a16:creationId xmlns:a16="http://schemas.microsoft.com/office/drawing/2014/main" id="{B4BE818E-1531-F377-31CD-6524E4033D3B}"/>
              </a:ext>
            </a:extLst>
          </p:cNvPr>
          <p:cNvSpPr txBox="1"/>
          <p:nvPr/>
        </p:nvSpPr>
        <p:spPr>
          <a:xfrm>
            <a:off x="802481" y="1620946"/>
            <a:ext cx="11029950" cy="646331"/>
          </a:xfrm>
          <a:prstGeom prst="rect">
            <a:avLst/>
          </a:prstGeom>
          <a:noFill/>
        </p:spPr>
        <p:txBody>
          <a:bodyPr wrap="square" rtlCol="0">
            <a:spAutoFit/>
          </a:bodyPr>
          <a:lstStyle/>
          <a:p>
            <a:r>
              <a:rPr lang="ja-JP" altLang="en-US" dirty="0"/>
              <a:t>効率的に成果を上げるために</a:t>
            </a:r>
            <a:r>
              <a:rPr lang="en-US" altLang="ja-JP" dirty="0"/>
              <a:t>, </a:t>
            </a:r>
            <a:r>
              <a:rPr lang="ja-JP" altLang="en-US" dirty="0"/>
              <a:t>機能ごとに優先順位を設定し</a:t>
            </a:r>
            <a:r>
              <a:rPr lang="en-US" altLang="ja-JP" dirty="0"/>
              <a:t>,</a:t>
            </a:r>
          </a:p>
          <a:p>
            <a:r>
              <a:rPr lang="ja-JP" altLang="en-US" dirty="0"/>
              <a:t>計画・設計・実装・テストの工程を小刻みに繰り返すアジャイル開発手法を採用した</a:t>
            </a:r>
            <a:endParaRPr kumimoji="1" lang="ja-JP" altLang="en-US" dirty="0"/>
          </a:p>
        </p:txBody>
      </p:sp>
      <p:sp>
        <p:nvSpPr>
          <p:cNvPr id="4" name="テキスト ボックス 3">
            <a:extLst>
              <a:ext uri="{FF2B5EF4-FFF2-40B4-BE49-F238E27FC236}">
                <a16:creationId xmlns:a16="http://schemas.microsoft.com/office/drawing/2014/main" id="{20A10E4F-D528-AC99-151E-99CD348FFC15}"/>
              </a:ext>
            </a:extLst>
          </p:cNvPr>
          <p:cNvSpPr txBox="1"/>
          <p:nvPr/>
        </p:nvSpPr>
        <p:spPr>
          <a:xfrm>
            <a:off x="781050" y="1076207"/>
            <a:ext cx="4171950" cy="523220"/>
          </a:xfrm>
          <a:prstGeom prst="rect">
            <a:avLst/>
          </a:prstGeom>
          <a:noFill/>
        </p:spPr>
        <p:txBody>
          <a:bodyPr wrap="square" rtlCol="0">
            <a:spAutoFit/>
          </a:bodyPr>
          <a:lstStyle/>
          <a:p>
            <a:r>
              <a:rPr kumimoji="1" lang="ja-JP" altLang="en-US" sz="2800" dirty="0"/>
              <a:t>アジャイル開発手法</a:t>
            </a:r>
          </a:p>
        </p:txBody>
      </p:sp>
      <p:sp>
        <p:nvSpPr>
          <p:cNvPr id="5" name="テキスト ボックス 4">
            <a:extLst>
              <a:ext uri="{FF2B5EF4-FFF2-40B4-BE49-F238E27FC236}">
                <a16:creationId xmlns:a16="http://schemas.microsoft.com/office/drawing/2014/main" id="{AC003448-A1C6-E1A3-B0A2-9080BF4DD43A}"/>
              </a:ext>
            </a:extLst>
          </p:cNvPr>
          <p:cNvSpPr txBox="1"/>
          <p:nvPr/>
        </p:nvSpPr>
        <p:spPr>
          <a:xfrm>
            <a:off x="802481" y="2434588"/>
            <a:ext cx="2486026" cy="1077218"/>
          </a:xfrm>
          <a:prstGeom prst="rect">
            <a:avLst/>
          </a:prstGeom>
          <a:noFill/>
        </p:spPr>
        <p:txBody>
          <a:bodyPr wrap="square" rtlCol="0">
            <a:spAutoFit/>
          </a:bodyPr>
          <a:lstStyle/>
          <a:p>
            <a:r>
              <a:rPr lang="en-US" altLang="ja-JP" sz="2800" dirty="0"/>
              <a:t>Django</a:t>
            </a:r>
          </a:p>
          <a:p>
            <a:endParaRPr lang="ja-JP" altLang="en-US" dirty="0"/>
          </a:p>
          <a:p>
            <a:endParaRPr kumimoji="1" lang="ja-JP" altLang="en-US" dirty="0"/>
          </a:p>
        </p:txBody>
      </p:sp>
      <p:sp>
        <p:nvSpPr>
          <p:cNvPr id="7" name="テキスト ボックス 6">
            <a:extLst>
              <a:ext uri="{FF2B5EF4-FFF2-40B4-BE49-F238E27FC236}">
                <a16:creationId xmlns:a16="http://schemas.microsoft.com/office/drawing/2014/main" id="{C338643B-0FF1-093E-EFD5-872C89266D6D}"/>
              </a:ext>
            </a:extLst>
          </p:cNvPr>
          <p:cNvSpPr txBox="1"/>
          <p:nvPr/>
        </p:nvSpPr>
        <p:spPr>
          <a:xfrm>
            <a:off x="781050" y="2973197"/>
            <a:ext cx="12706350" cy="1477328"/>
          </a:xfrm>
          <a:prstGeom prst="rect">
            <a:avLst/>
          </a:prstGeom>
          <a:noFill/>
        </p:spPr>
        <p:txBody>
          <a:bodyPr wrap="square" rtlCol="0">
            <a:spAutoFit/>
          </a:bodyPr>
          <a:lstStyle/>
          <a:p>
            <a:r>
              <a:rPr lang="ja-JP" altLang="en-US" dirty="0"/>
              <a:t>・ユーザー認証や管理画面</a:t>
            </a:r>
            <a:r>
              <a:rPr lang="en-US" altLang="ja-JP" dirty="0"/>
              <a:t>, </a:t>
            </a:r>
            <a:r>
              <a:rPr lang="ja-JP" altLang="en-US" dirty="0"/>
              <a:t>データベース操作などの機能が初期状態で組み込まれている</a:t>
            </a:r>
            <a:endParaRPr lang="en-US" altLang="ja-JP" dirty="0"/>
          </a:p>
          <a:p>
            <a:endParaRPr lang="en-US" altLang="ja-JP" dirty="0"/>
          </a:p>
          <a:p>
            <a:r>
              <a:rPr lang="ja-JP" altLang="en-US" dirty="0"/>
              <a:t>・データベース操作をすべて</a:t>
            </a:r>
            <a:r>
              <a:rPr lang="en-US" altLang="ja-JP" dirty="0"/>
              <a:t>Python </a:t>
            </a:r>
            <a:r>
              <a:rPr lang="ja-JP" altLang="en-US" dirty="0"/>
              <a:t>で記述できるため</a:t>
            </a:r>
            <a:r>
              <a:rPr lang="en-US" altLang="ja-JP" dirty="0"/>
              <a:t>, </a:t>
            </a:r>
            <a:r>
              <a:rPr lang="ja-JP" altLang="en-US" dirty="0"/>
              <a:t>学習コストが低い</a:t>
            </a:r>
            <a:endParaRPr lang="en-US" altLang="ja-JP" dirty="0"/>
          </a:p>
          <a:p>
            <a:endParaRPr lang="en-US" altLang="ja-JP" dirty="0"/>
          </a:p>
          <a:p>
            <a:r>
              <a:rPr lang="ja-JP" altLang="en-US" dirty="0"/>
              <a:t>・セキュリティ対策がフレームワークに標準で備わっている</a:t>
            </a:r>
            <a:endParaRPr lang="en-US" altLang="ja-JP" dirty="0"/>
          </a:p>
        </p:txBody>
      </p:sp>
      <p:sp>
        <p:nvSpPr>
          <p:cNvPr id="8" name="テキスト ボックス 7">
            <a:extLst>
              <a:ext uri="{FF2B5EF4-FFF2-40B4-BE49-F238E27FC236}">
                <a16:creationId xmlns:a16="http://schemas.microsoft.com/office/drawing/2014/main" id="{C377D5FB-4814-F812-E7A3-DF33CD394E62}"/>
              </a:ext>
            </a:extLst>
          </p:cNvPr>
          <p:cNvSpPr txBox="1"/>
          <p:nvPr/>
        </p:nvSpPr>
        <p:spPr>
          <a:xfrm>
            <a:off x="781050" y="4644773"/>
            <a:ext cx="10587038" cy="1938992"/>
          </a:xfrm>
          <a:prstGeom prst="rect">
            <a:avLst/>
          </a:prstGeom>
          <a:noFill/>
        </p:spPr>
        <p:txBody>
          <a:bodyPr wrap="square" rtlCol="0">
            <a:spAutoFit/>
          </a:bodyPr>
          <a:lstStyle/>
          <a:p>
            <a:r>
              <a:rPr lang="ja-JP" altLang="en-US" sz="2800" dirty="0"/>
              <a:t>実装</a:t>
            </a:r>
            <a:endParaRPr lang="en-US" altLang="ja-JP" sz="2800" dirty="0"/>
          </a:p>
          <a:p>
            <a:r>
              <a:rPr lang="en-US" altLang="ja-JP" dirty="0"/>
              <a:t>Python, HTML, JavaScript, CSS</a:t>
            </a:r>
          </a:p>
          <a:p>
            <a:r>
              <a:rPr lang="en-US" altLang="ja-JP" sz="2800" dirty="0"/>
              <a:t> </a:t>
            </a:r>
          </a:p>
          <a:p>
            <a:r>
              <a:rPr lang="en-US" altLang="ja-JP" sz="2800" dirty="0"/>
              <a:t>UI </a:t>
            </a:r>
            <a:r>
              <a:rPr lang="ja-JP" altLang="en-US" sz="2800" dirty="0"/>
              <a:t>ライブラリ</a:t>
            </a:r>
            <a:endParaRPr lang="en-US" altLang="ja-JP" sz="2800" dirty="0"/>
          </a:p>
          <a:p>
            <a:r>
              <a:rPr lang="en-US" altLang="ja-JP" dirty="0"/>
              <a:t>Boot-strap,</a:t>
            </a:r>
            <a:r>
              <a:rPr lang="ja-JP" altLang="en-US" dirty="0"/>
              <a:t> </a:t>
            </a:r>
            <a:r>
              <a:rPr lang="en-US" altLang="ja-JP" dirty="0"/>
              <a:t>Font Awesome</a:t>
            </a:r>
          </a:p>
        </p:txBody>
      </p:sp>
      <p:cxnSp>
        <p:nvCxnSpPr>
          <p:cNvPr id="10" name="直線コネクタ 9">
            <a:extLst>
              <a:ext uri="{FF2B5EF4-FFF2-40B4-BE49-F238E27FC236}">
                <a16:creationId xmlns:a16="http://schemas.microsoft.com/office/drawing/2014/main" id="{C86D27C9-43D7-CD69-1F35-E80C2C090E13}"/>
              </a:ext>
            </a:extLst>
          </p:cNvPr>
          <p:cNvCxnSpPr>
            <a:cxnSpLocks/>
          </p:cNvCxnSpPr>
          <p:nvPr/>
        </p:nvCxnSpPr>
        <p:spPr>
          <a:xfrm>
            <a:off x="0" y="965775"/>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2790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84D8-4A2D-78CB-065B-9E217FE36863}"/>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2B54114D-D799-97CF-CA77-DB7296D55FB2}"/>
              </a:ext>
            </a:extLst>
          </p:cNvPr>
          <p:cNvPicPr>
            <a:picLocks noChangeAspect="1"/>
          </p:cNvPicPr>
          <p:nvPr/>
        </p:nvPicPr>
        <p:blipFill>
          <a:blip r:embed="rId2"/>
          <a:stretch>
            <a:fillRect/>
          </a:stretch>
        </p:blipFill>
        <p:spPr>
          <a:xfrm>
            <a:off x="304800" y="1223456"/>
            <a:ext cx="11258550" cy="5376356"/>
          </a:xfrm>
          <a:prstGeom prst="rect">
            <a:avLst/>
          </a:prstGeom>
        </p:spPr>
      </p:pic>
      <p:sp>
        <p:nvSpPr>
          <p:cNvPr id="4" name="テキスト ボックス 3">
            <a:extLst>
              <a:ext uri="{FF2B5EF4-FFF2-40B4-BE49-F238E27FC236}">
                <a16:creationId xmlns:a16="http://schemas.microsoft.com/office/drawing/2014/main" id="{CAE40EB9-8AAF-C65E-2AFD-226670B1FF75}"/>
              </a:ext>
            </a:extLst>
          </p:cNvPr>
          <p:cNvSpPr txBox="1"/>
          <p:nvPr/>
        </p:nvSpPr>
        <p:spPr>
          <a:xfrm>
            <a:off x="542925" y="258188"/>
            <a:ext cx="4086225" cy="584775"/>
          </a:xfrm>
          <a:prstGeom prst="rect">
            <a:avLst/>
          </a:prstGeom>
          <a:noFill/>
        </p:spPr>
        <p:txBody>
          <a:bodyPr wrap="square" rtlCol="0">
            <a:spAutoFit/>
          </a:bodyPr>
          <a:lstStyle/>
          <a:p>
            <a:r>
              <a:rPr lang="ja-JP" altLang="en-US" sz="3200" dirty="0"/>
              <a:t>主な</a:t>
            </a:r>
            <a:r>
              <a:rPr lang="en-US" altLang="ja-JP" sz="3200" dirty="0"/>
              <a:t>7 </a:t>
            </a:r>
            <a:r>
              <a:rPr lang="ja-JP" altLang="en-US" sz="3200" dirty="0"/>
              <a:t>つの機能</a:t>
            </a:r>
            <a:endParaRPr kumimoji="1" lang="ja-JP" altLang="en-US" sz="3200" dirty="0"/>
          </a:p>
        </p:txBody>
      </p:sp>
      <p:cxnSp>
        <p:nvCxnSpPr>
          <p:cNvPr id="2" name="直線コネクタ 1">
            <a:extLst>
              <a:ext uri="{FF2B5EF4-FFF2-40B4-BE49-F238E27FC236}">
                <a16:creationId xmlns:a16="http://schemas.microsoft.com/office/drawing/2014/main" id="{8FD39B9B-8BCA-3DBC-C9A3-C3F7495FC655}"/>
              </a:ext>
            </a:extLst>
          </p:cNvPr>
          <p:cNvCxnSpPr>
            <a:cxnSpLocks/>
          </p:cNvCxnSpPr>
          <p:nvPr/>
        </p:nvCxnSpPr>
        <p:spPr>
          <a:xfrm>
            <a:off x="0" y="994350"/>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8564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B7F02-4A27-ACE5-02C7-3290A9E25466}"/>
            </a:ext>
          </a:extLst>
        </p:cNvPr>
        <p:cNvGrpSpPr/>
        <p:nvPr/>
      </p:nvGrpSpPr>
      <p:grpSpPr>
        <a:xfrm>
          <a:off x="0" y="0"/>
          <a:ext cx="0" cy="0"/>
          <a:chOff x="0" y="0"/>
          <a:chExt cx="0" cy="0"/>
        </a:xfrm>
      </p:grpSpPr>
      <p:pic>
        <p:nvPicPr>
          <p:cNvPr id="23" name="図 22">
            <a:extLst>
              <a:ext uri="{FF2B5EF4-FFF2-40B4-BE49-F238E27FC236}">
                <a16:creationId xmlns:a16="http://schemas.microsoft.com/office/drawing/2014/main" id="{C1FB4787-2DAB-4AAA-3F1B-92E1FD800D60}"/>
              </a:ext>
            </a:extLst>
          </p:cNvPr>
          <p:cNvPicPr>
            <a:picLocks noChangeAspect="1"/>
          </p:cNvPicPr>
          <p:nvPr/>
        </p:nvPicPr>
        <p:blipFill>
          <a:blip r:embed="rId2"/>
          <a:stretch>
            <a:fillRect/>
          </a:stretch>
        </p:blipFill>
        <p:spPr>
          <a:xfrm>
            <a:off x="487083" y="3903432"/>
            <a:ext cx="4500831" cy="2531718"/>
          </a:xfrm>
          <a:prstGeom prst="rect">
            <a:avLst/>
          </a:prstGeom>
        </p:spPr>
      </p:pic>
      <p:pic>
        <p:nvPicPr>
          <p:cNvPr id="6" name="図 5">
            <a:extLst>
              <a:ext uri="{FF2B5EF4-FFF2-40B4-BE49-F238E27FC236}">
                <a16:creationId xmlns:a16="http://schemas.microsoft.com/office/drawing/2014/main" id="{D7DB0040-D323-8091-4E53-03D0456D9314}"/>
              </a:ext>
            </a:extLst>
          </p:cNvPr>
          <p:cNvPicPr>
            <a:picLocks noChangeAspect="1"/>
          </p:cNvPicPr>
          <p:nvPr/>
        </p:nvPicPr>
        <p:blipFill>
          <a:blip r:embed="rId3"/>
          <a:srcRect l="8588" r="17763" b="10799"/>
          <a:stretch>
            <a:fillRect/>
          </a:stretch>
        </p:blipFill>
        <p:spPr>
          <a:xfrm>
            <a:off x="990600" y="1560780"/>
            <a:ext cx="2962275" cy="1935811"/>
          </a:xfrm>
          <a:prstGeom prst="rect">
            <a:avLst/>
          </a:prstGeom>
        </p:spPr>
      </p:pic>
      <p:pic>
        <p:nvPicPr>
          <p:cNvPr id="4" name="図 3">
            <a:extLst>
              <a:ext uri="{FF2B5EF4-FFF2-40B4-BE49-F238E27FC236}">
                <a16:creationId xmlns:a16="http://schemas.microsoft.com/office/drawing/2014/main" id="{B5736CE1-B7B6-F27D-975B-3B65A31FFA21}"/>
              </a:ext>
            </a:extLst>
          </p:cNvPr>
          <p:cNvPicPr>
            <a:picLocks noChangeAspect="1"/>
          </p:cNvPicPr>
          <p:nvPr/>
        </p:nvPicPr>
        <p:blipFill>
          <a:blip r:embed="rId4"/>
          <a:srcRect t="16189" b="17964"/>
          <a:stretch>
            <a:fillRect/>
          </a:stretch>
        </p:blipFill>
        <p:spPr>
          <a:xfrm>
            <a:off x="6921216" y="1635154"/>
            <a:ext cx="4854169" cy="1793038"/>
          </a:xfrm>
          <a:prstGeom prst="rect">
            <a:avLst/>
          </a:prstGeom>
        </p:spPr>
      </p:pic>
      <p:sp>
        <p:nvSpPr>
          <p:cNvPr id="2" name="テキスト ボックス 1">
            <a:extLst>
              <a:ext uri="{FF2B5EF4-FFF2-40B4-BE49-F238E27FC236}">
                <a16:creationId xmlns:a16="http://schemas.microsoft.com/office/drawing/2014/main" id="{6AB964BD-8D22-BF40-E5EC-A70D6E44C3D3}"/>
              </a:ext>
            </a:extLst>
          </p:cNvPr>
          <p:cNvSpPr txBox="1"/>
          <p:nvPr/>
        </p:nvSpPr>
        <p:spPr>
          <a:xfrm>
            <a:off x="342899" y="203245"/>
            <a:ext cx="7315201" cy="584775"/>
          </a:xfrm>
          <a:prstGeom prst="rect">
            <a:avLst/>
          </a:prstGeom>
          <a:noFill/>
        </p:spPr>
        <p:txBody>
          <a:bodyPr wrap="square" rtlCol="0">
            <a:spAutoFit/>
          </a:bodyPr>
          <a:lstStyle/>
          <a:p>
            <a:r>
              <a:rPr lang="ja-JP" altLang="en-US" sz="3200" dirty="0"/>
              <a:t>アカウント機能から作成画面の流れ</a:t>
            </a:r>
            <a:endParaRPr kumimoji="1" lang="ja-JP" altLang="en-US" sz="3200" dirty="0"/>
          </a:p>
        </p:txBody>
      </p:sp>
      <p:sp>
        <p:nvSpPr>
          <p:cNvPr id="8" name="テキスト ボックス 7">
            <a:extLst>
              <a:ext uri="{FF2B5EF4-FFF2-40B4-BE49-F238E27FC236}">
                <a16:creationId xmlns:a16="http://schemas.microsoft.com/office/drawing/2014/main" id="{C35E456A-15E6-C873-7460-259FCCBD1EB4}"/>
              </a:ext>
            </a:extLst>
          </p:cNvPr>
          <p:cNvSpPr txBox="1"/>
          <p:nvPr/>
        </p:nvSpPr>
        <p:spPr>
          <a:xfrm>
            <a:off x="647700" y="1013400"/>
            <a:ext cx="7219950" cy="400110"/>
          </a:xfrm>
          <a:prstGeom prst="rect">
            <a:avLst/>
          </a:prstGeom>
          <a:noFill/>
        </p:spPr>
        <p:txBody>
          <a:bodyPr wrap="square" rtlCol="0">
            <a:spAutoFit/>
          </a:bodyPr>
          <a:lstStyle/>
          <a:p>
            <a:r>
              <a:rPr kumimoji="1" lang="ja-JP" altLang="en-US" sz="2000" dirty="0"/>
              <a:t>旅行画面を表示するのはログイン</a:t>
            </a:r>
            <a:r>
              <a:rPr lang="ja-JP" altLang="en-US" sz="2000" dirty="0"/>
              <a:t>を行う必要がある</a:t>
            </a:r>
            <a:endParaRPr kumimoji="1" lang="en-US" altLang="ja-JP" sz="2000" dirty="0"/>
          </a:p>
        </p:txBody>
      </p:sp>
      <p:cxnSp>
        <p:nvCxnSpPr>
          <p:cNvPr id="11" name="直線矢印コネクタ 10">
            <a:extLst>
              <a:ext uri="{FF2B5EF4-FFF2-40B4-BE49-F238E27FC236}">
                <a16:creationId xmlns:a16="http://schemas.microsoft.com/office/drawing/2014/main" id="{551D1829-77C7-7288-339C-4CB84F7BA438}"/>
              </a:ext>
            </a:extLst>
          </p:cNvPr>
          <p:cNvCxnSpPr>
            <a:cxnSpLocks/>
          </p:cNvCxnSpPr>
          <p:nvPr/>
        </p:nvCxnSpPr>
        <p:spPr>
          <a:xfrm>
            <a:off x="4762500" y="2109157"/>
            <a:ext cx="1171575"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 name="テキスト ボックス 12">
            <a:extLst>
              <a:ext uri="{FF2B5EF4-FFF2-40B4-BE49-F238E27FC236}">
                <a16:creationId xmlns:a16="http://schemas.microsoft.com/office/drawing/2014/main" id="{8B9CC013-A1C6-4CB7-15DA-49B0E94C8A1E}"/>
              </a:ext>
            </a:extLst>
          </p:cNvPr>
          <p:cNvSpPr txBox="1"/>
          <p:nvPr/>
        </p:nvSpPr>
        <p:spPr>
          <a:xfrm>
            <a:off x="4461570" y="2483983"/>
            <a:ext cx="2257426" cy="646331"/>
          </a:xfrm>
          <a:prstGeom prst="rect">
            <a:avLst/>
          </a:prstGeom>
          <a:noFill/>
        </p:spPr>
        <p:txBody>
          <a:bodyPr wrap="square" rtlCol="0">
            <a:spAutoFit/>
          </a:bodyPr>
          <a:lstStyle/>
          <a:p>
            <a:r>
              <a:rPr kumimoji="1" lang="ja-JP" altLang="en-US" dirty="0"/>
              <a:t>アカウントを</a:t>
            </a:r>
            <a:endParaRPr kumimoji="1" lang="en-US" altLang="ja-JP" dirty="0"/>
          </a:p>
          <a:p>
            <a:r>
              <a:rPr kumimoji="1" lang="ja-JP" altLang="en-US" dirty="0"/>
              <a:t>持っていない場合</a:t>
            </a:r>
          </a:p>
        </p:txBody>
      </p:sp>
      <p:pic>
        <p:nvPicPr>
          <p:cNvPr id="25" name="図 24">
            <a:extLst>
              <a:ext uri="{FF2B5EF4-FFF2-40B4-BE49-F238E27FC236}">
                <a16:creationId xmlns:a16="http://schemas.microsoft.com/office/drawing/2014/main" id="{7661D6B0-682B-650B-A3E3-F3AEFF03AA12}"/>
              </a:ext>
            </a:extLst>
          </p:cNvPr>
          <p:cNvPicPr>
            <a:picLocks noChangeAspect="1"/>
          </p:cNvPicPr>
          <p:nvPr/>
        </p:nvPicPr>
        <p:blipFill>
          <a:blip r:embed="rId5"/>
          <a:srcRect r="21037"/>
          <a:stretch>
            <a:fillRect/>
          </a:stretch>
        </p:blipFill>
        <p:spPr>
          <a:xfrm>
            <a:off x="7408313" y="3772262"/>
            <a:ext cx="3383505" cy="2410259"/>
          </a:xfrm>
          <a:prstGeom prst="rect">
            <a:avLst/>
          </a:prstGeom>
        </p:spPr>
      </p:pic>
      <p:cxnSp>
        <p:nvCxnSpPr>
          <p:cNvPr id="27" name="直線矢印コネクタ 26">
            <a:extLst>
              <a:ext uri="{FF2B5EF4-FFF2-40B4-BE49-F238E27FC236}">
                <a16:creationId xmlns:a16="http://schemas.microsoft.com/office/drawing/2014/main" id="{05B076A1-011F-A7E3-EC2D-CBCA34855781}"/>
              </a:ext>
            </a:extLst>
          </p:cNvPr>
          <p:cNvCxnSpPr>
            <a:cxnSpLocks/>
          </p:cNvCxnSpPr>
          <p:nvPr/>
        </p:nvCxnSpPr>
        <p:spPr>
          <a:xfrm flipH="1">
            <a:off x="5213155" y="5169291"/>
            <a:ext cx="1038224"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 name="直線コネクタ 2">
            <a:extLst>
              <a:ext uri="{FF2B5EF4-FFF2-40B4-BE49-F238E27FC236}">
                <a16:creationId xmlns:a16="http://schemas.microsoft.com/office/drawing/2014/main" id="{0B02DAB2-2D0A-0C10-18B2-868A613DCC65}"/>
              </a:ext>
            </a:extLst>
          </p:cNvPr>
          <p:cNvCxnSpPr>
            <a:cxnSpLocks/>
          </p:cNvCxnSpPr>
          <p:nvPr/>
        </p:nvCxnSpPr>
        <p:spPr>
          <a:xfrm>
            <a:off x="0" y="889575"/>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2" name="図 11">
            <a:extLst>
              <a:ext uri="{FF2B5EF4-FFF2-40B4-BE49-F238E27FC236}">
                <a16:creationId xmlns:a16="http://schemas.microsoft.com/office/drawing/2014/main" id="{7BDC834A-7656-4236-CFEA-FDA5B0DD089D}"/>
              </a:ext>
            </a:extLst>
          </p:cNvPr>
          <p:cNvPicPr>
            <a:picLocks noChangeAspect="1"/>
          </p:cNvPicPr>
          <p:nvPr/>
        </p:nvPicPr>
        <p:blipFill>
          <a:blip r:embed="rId6"/>
          <a:stretch>
            <a:fillRect/>
          </a:stretch>
        </p:blipFill>
        <p:spPr>
          <a:xfrm>
            <a:off x="6701861" y="4248477"/>
            <a:ext cx="5405896" cy="1977193"/>
          </a:xfrm>
          <a:prstGeom prst="rect">
            <a:avLst/>
          </a:prstGeom>
        </p:spPr>
      </p:pic>
      <p:cxnSp>
        <p:nvCxnSpPr>
          <p:cNvPr id="26" name="直線矢印コネクタ 25">
            <a:extLst>
              <a:ext uri="{FF2B5EF4-FFF2-40B4-BE49-F238E27FC236}">
                <a16:creationId xmlns:a16="http://schemas.microsoft.com/office/drawing/2014/main" id="{1CCC7562-7835-514A-4D67-FCCF3C8448B9}"/>
              </a:ext>
            </a:extLst>
          </p:cNvPr>
          <p:cNvCxnSpPr>
            <a:cxnSpLocks/>
          </p:cNvCxnSpPr>
          <p:nvPr/>
        </p:nvCxnSpPr>
        <p:spPr>
          <a:xfrm>
            <a:off x="9208109" y="3609975"/>
            <a:ext cx="0" cy="77826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75507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33FBC-D900-B0F0-A49A-3B843E333F50}"/>
            </a:ext>
          </a:extLst>
        </p:cNvPr>
        <p:cNvGrpSpPr/>
        <p:nvPr/>
      </p:nvGrpSpPr>
      <p:grpSpPr>
        <a:xfrm>
          <a:off x="0" y="0"/>
          <a:ext cx="0" cy="0"/>
          <a:chOff x="0" y="0"/>
          <a:chExt cx="0" cy="0"/>
        </a:xfrm>
      </p:grpSpPr>
      <p:sp>
        <p:nvSpPr>
          <p:cNvPr id="32" name="テキスト ボックス 31">
            <a:extLst>
              <a:ext uri="{FF2B5EF4-FFF2-40B4-BE49-F238E27FC236}">
                <a16:creationId xmlns:a16="http://schemas.microsoft.com/office/drawing/2014/main" id="{A7FDCAB3-5B26-EEAE-073B-887F1D513961}"/>
              </a:ext>
            </a:extLst>
          </p:cNvPr>
          <p:cNvSpPr txBox="1"/>
          <p:nvPr/>
        </p:nvSpPr>
        <p:spPr>
          <a:xfrm>
            <a:off x="5535018" y="1213619"/>
            <a:ext cx="6115040" cy="369332"/>
          </a:xfrm>
          <a:prstGeom prst="rect">
            <a:avLst/>
          </a:prstGeom>
          <a:solidFill>
            <a:schemeClr val="accent1">
              <a:lumMod val="20000"/>
              <a:lumOff val="80000"/>
            </a:schemeClr>
          </a:solidFill>
        </p:spPr>
        <p:txBody>
          <a:bodyPr wrap="square" rtlCol="0">
            <a:spAutoFit/>
          </a:bodyPr>
          <a:lstStyle/>
          <a:p>
            <a:endParaRPr kumimoji="1" lang="ja-JP" altLang="en-US" dirty="0"/>
          </a:p>
        </p:txBody>
      </p:sp>
      <p:sp>
        <p:nvSpPr>
          <p:cNvPr id="10" name="テキスト ボックス 9">
            <a:extLst>
              <a:ext uri="{FF2B5EF4-FFF2-40B4-BE49-F238E27FC236}">
                <a16:creationId xmlns:a16="http://schemas.microsoft.com/office/drawing/2014/main" id="{BC5A6197-ECEC-4BE4-5D1A-705A85D77BBB}"/>
              </a:ext>
            </a:extLst>
          </p:cNvPr>
          <p:cNvSpPr txBox="1"/>
          <p:nvPr/>
        </p:nvSpPr>
        <p:spPr>
          <a:xfrm>
            <a:off x="5535018" y="1195467"/>
            <a:ext cx="6115050" cy="2585323"/>
          </a:xfrm>
          <a:prstGeom prst="rect">
            <a:avLst/>
          </a:prstGeom>
          <a:noFill/>
          <a:ln w="28575">
            <a:solidFill>
              <a:schemeClr val="accent1"/>
            </a:solidFill>
          </a:ln>
        </p:spPr>
        <p:txBody>
          <a:bodyPr wrap="square">
            <a:spAutoFit/>
          </a:bodyPr>
          <a:lstStyle/>
          <a:p>
            <a:r>
              <a:rPr lang="ja-JP" altLang="en-US" dirty="0"/>
              <a:t>           機能　　　　　　　　　　　使用技術</a:t>
            </a:r>
            <a:endParaRPr lang="en-US" altLang="ja-JP" dirty="0"/>
          </a:p>
          <a:p>
            <a:endParaRPr lang="en-US" altLang="ja-JP" dirty="0"/>
          </a:p>
          <a:p>
            <a:r>
              <a:rPr lang="ja-JP" altLang="en-US" dirty="0"/>
              <a:t>         地図表示</a:t>
            </a:r>
            <a:endParaRPr lang="en-US" altLang="ja-JP" dirty="0"/>
          </a:p>
          <a:p>
            <a:endParaRPr lang="en-US" altLang="ja-JP" dirty="0"/>
          </a:p>
          <a:p>
            <a:r>
              <a:rPr lang="ja-JP" altLang="en-US" dirty="0"/>
              <a:t>        観光地登録</a:t>
            </a:r>
            <a:endParaRPr lang="en-US" altLang="ja-JP" dirty="0"/>
          </a:p>
          <a:p>
            <a:endParaRPr lang="en-US" altLang="ja-JP" dirty="0"/>
          </a:p>
          <a:p>
            <a:r>
              <a:rPr lang="ja-JP" altLang="en-US" dirty="0"/>
              <a:t>   移動時間の自動算出</a:t>
            </a:r>
            <a:endParaRPr lang="en-US" altLang="ja-JP" dirty="0"/>
          </a:p>
          <a:p>
            <a:endParaRPr lang="en-US" altLang="ja-JP" dirty="0"/>
          </a:p>
          <a:p>
            <a:r>
              <a:rPr lang="ja-JP" altLang="en-US" dirty="0"/>
              <a:t>    訪問順序入れ替え</a:t>
            </a:r>
            <a:endParaRPr lang="en-US" altLang="ja-JP" dirty="0">
              <a:latin typeface="CMR12"/>
            </a:endParaRPr>
          </a:p>
        </p:txBody>
      </p:sp>
      <p:sp>
        <p:nvSpPr>
          <p:cNvPr id="4" name="テキスト ボックス 3">
            <a:extLst>
              <a:ext uri="{FF2B5EF4-FFF2-40B4-BE49-F238E27FC236}">
                <a16:creationId xmlns:a16="http://schemas.microsoft.com/office/drawing/2014/main" id="{B81D8629-8F8E-46FE-6318-1A421D546D51}"/>
              </a:ext>
            </a:extLst>
          </p:cNvPr>
          <p:cNvSpPr txBox="1"/>
          <p:nvPr/>
        </p:nvSpPr>
        <p:spPr>
          <a:xfrm>
            <a:off x="467360" y="255181"/>
            <a:ext cx="2631440" cy="584775"/>
          </a:xfrm>
          <a:prstGeom prst="rect">
            <a:avLst/>
          </a:prstGeom>
          <a:noFill/>
        </p:spPr>
        <p:txBody>
          <a:bodyPr wrap="square" rtlCol="0">
            <a:spAutoFit/>
          </a:bodyPr>
          <a:lstStyle/>
          <a:p>
            <a:r>
              <a:rPr kumimoji="1" lang="ja-JP" altLang="en-US" sz="3200" dirty="0"/>
              <a:t>旅行詳細画面</a:t>
            </a:r>
          </a:p>
        </p:txBody>
      </p:sp>
      <p:sp>
        <p:nvSpPr>
          <p:cNvPr id="5" name="テキスト ボックス 4">
            <a:extLst>
              <a:ext uri="{FF2B5EF4-FFF2-40B4-BE49-F238E27FC236}">
                <a16:creationId xmlns:a16="http://schemas.microsoft.com/office/drawing/2014/main" id="{B4DCA592-299B-91D5-948C-1BAF76354F14}"/>
              </a:ext>
            </a:extLst>
          </p:cNvPr>
          <p:cNvSpPr txBox="1"/>
          <p:nvPr/>
        </p:nvSpPr>
        <p:spPr>
          <a:xfrm>
            <a:off x="1040130" y="1260067"/>
            <a:ext cx="4815840" cy="1938992"/>
          </a:xfrm>
          <a:prstGeom prst="rect">
            <a:avLst/>
          </a:prstGeom>
          <a:noFill/>
        </p:spPr>
        <p:txBody>
          <a:bodyPr wrap="square" rtlCol="0">
            <a:spAutoFit/>
          </a:bodyPr>
          <a:lstStyle/>
          <a:p>
            <a:r>
              <a:rPr kumimoji="1" lang="en-US" altLang="ja-JP" sz="2000" dirty="0"/>
              <a:t>- </a:t>
            </a:r>
            <a:r>
              <a:rPr kumimoji="1" lang="ja-JP" altLang="en-US" sz="2000" dirty="0"/>
              <a:t>地図表示</a:t>
            </a:r>
            <a:endParaRPr kumimoji="1" lang="en-US" altLang="ja-JP" sz="2000" dirty="0"/>
          </a:p>
          <a:p>
            <a:r>
              <a:rPr lang="en-US" altLang="ja-JP" sz="2000" dirty="0"/>
              <a:t>- </a:t>
            </a:r>
            <a:r>
              <a:rPr lang="ja-JP" altLang="en-US" sz="2000" dirty="0"/>
              <a:t>観光地登録</a:t>
            </a:r>
            <a:endParaRPr lang="en-US" altLang="ja-JP" sz="2000" dirty="0"/>
          </a:p>
          <a:p>
            <a:r>
              <a:rPr lang="en-US" altLang="ja-JP" sz="2000" dirty="0"/>
              <a:t>-</a:t>
            </a:r>
            <a:r>
              <a:rPr lang="ja-JP" altLang="en-US" sz="2000" dirty="0"/>
              <a:t> 観光地の移動時間を自動算出</a:t>
            </a:r>
            <a:endParaRPr lang="en-US" altLang="ja-JP" sz="2000" dirty="0"/>
          </a:p>
          <a:p>
            <a:r>
              <a:rPr lang="en-US" altLang="ja-JP" sz="2000" dirty="0"/>
              <a:t>- </a:t>
            </a:r>
            <a:r>
              <a:rPr lang="ja-JP" altLang="en-US" sz="2000" dirty="0"/>
              <a:t>訪問順序入れ替え</a:t>
            </a:r>
            <a:endParaRPr lang="en-US" altLang="ja-JP" sz="2000" dirty="0"/>
          </a:p>
          <a:p>
            <a:r>
              <a:rPr kumimoji="1" lang="en-US" altLang="ja-JP" sz="2000" dirty="0"/>
              <a:t>- </a:t>
            </a:r>
            <a:r>
              <a:rPr kumimoji="1" lang="ja-JP" altLang="en-US" sz="2000" dirty="0"/>
              <a:t>タブ切り替え</a:t>
            </a:r>
            <a:endParaRPr kumimoji="1" lang="en-US" altLang="ja-JP" sz="2000" dirty="0"/>
          </a:p>
          <a:p>
            <a:endParaRPr lang="en-US" altLang="ja-JP" sz="2000" dirty="0"/>
          </a:p>
        </p:txBody>
      </p:sp>
      <p:pic>
        <p:nvPicPr>
          <p:cNvPr id="7" name="図 6">
            <a:extLst>
              <a:ext uri="{FF2B5EF4-FFF2-40B4-BE49-F238E27FC236}">
                <a16:creationId xmlns:a16="http://schemas.microsoft.com/office/drawing/2014/main" id="{53B07E3F-BC5C-15CC-E220-3B2B3EC77B54}"/>
              </a:ext>
            </a:extLst>
          </p:cNvPr>
          <p:cNvPicPr>
            <a:picLocks noChangeAspect="1"/>
          </p:cNvPicPr>
          <p:nvPr/>
        </p:nvPicPr>
        <p:blipFill>
          <a:blip r:embed="rId2"/>
          <a:stretch>
            <a:fillRect/>
          </a:stretch>
        </p:blipFill>
        <p:spPr>
          <a:xfrm>
            <a:off x="215540" y="3794760"/>
            <a:ext cx="5319479" cy="2646680"/>
          </a:xfrm>
          <a:prstGeom prst="rect">
            <a:avLst/>
          </a:prstGeom>
        </p:spPr>
      </p:pic>
      <p:pic>
        <p:nvPicPr>
          <p:cNvPr id="9" name="図 8">
            <a:extLst>
              <a:ext uri="{FF2B5EF4-FFF2-40B4-BE49-F238E27FC236}">
                <a16:creationId xmlns:a16="http://schemas.microsoft.com/office/drawing/2014/main" id="{5E71DC65-B4EE-5E2E-D021-422DE8991293}"/>
              </a:ext>
            </a:extLst>
          </p:cNvPr>
          <p:cNvPicPr>
            <a:picLocks noChangeAspect="1"/>
          </p:cNvPicPr>
          <p:nvPr/>
        </p:nvPicPr>
        <p:blipFill>
          <a:blip r:embed="rId3"/>
          <a:srcRect b="3200"/>
          <a:stretch>
            <a:fillRect/>
          </a:stretch>
        </p:blipFill>
        <p:spPr>
          <a:xfrm>
            <a:off x="5815509" y="4061111"/>
            <a:ext cx="6293533" cy="2646680"/>
          </a:xfrm>
          <a:prstGeom prst="rect">
            <a:avLst/>
          </a:prstGeom>
        </p:spPr>
      </p:pic>
      <p:pic>
        <p:nvPicPr>
          <p:cNvPr id="11" name="図 10">
            <a:extLst>
              <a:ext uri="{FF2B5EF4-FFF2-40B4-BE49-F238E27FC236}">
                <a16:creationId xmlns:a16="http://schemas.microsoft.com/office/drawing/2014/main" id="{CDE138D5-1C3C-F233-CBE8-A351695CBA8B}"/>
              </a:ext>
            </a:extLst>
          </p:cNvPr>
          <p:cNvPicPr>
            <a:picLocks noChangeAspect="1"/>
          </p:cNvPicPr>
          <p:nvPr/>
        </p:nvPicPr>
        <p:blipFill>
          <a:blip r:embed="rId4"/>
          <a:stretch>
            <a:fillRect/>
          </a:stretch>
        </p:blipFill>
        <p:spPr>
          <a:xfrm>
            <a:off x="8092038" y="3905516"/>
            <a:ext cx="1209844" cy="733527"/>
          </a:xfrm>
          <a:prstGeom prst="rect">
            <a:avLst/>
          </a:prstGeom>
        </p:spPr>
      </p:pic>
      <p:cxnSp>
        <p:nvCxnSpPr>
          <p:cNvPr id="13" name="直線矢印コネクタ 12">
            <a:extLst>
              <a:ext uri="{FF2B5EF4-FFF2-40B4-BE49-F238E27FC236}">
                <a16:creationId xmlns:a16="http://schemas.microsoft.com/office/drawing/2014/main" id="{3A4D17F1-BC7A-5DE0-0565-44A3EDE39874}"/>
              </a:ext>
            </a:extLst>
          </p:cNvPr>
          <p:cNvCxnSpPr>
            <a:cxnSpLocks/>
          </p:cNvCxnSpPr>
          <p:nvPr/>
        </p:nvCxnSpPr>
        <p:spPr>
          <a:xfrm flipV="1">
            <a:off x="5254528" y="5090160"/>
            <a:ext cx="560981" cy="27940"/>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 name="直線コネクタ 1">
            <a:extLst>
              <a:ext uri="{FF2B5EF4-FFF2-40B4-BE49-F238E27FC236}">
                <a16:creationId xmlns:a16="http://schemas.microsoft.com/office/drawing/2014/main" id="{AE67266D-F630-3AAF-0CCA-EEEF8AA7DA87}"/>
              </a:ext>
            </a:extLst>
          </p:cNvPr>
          <p:cNvCxnSpPr>
            <a:cxnSpLocks/>
          </p:cNvCxnSpPr>
          <p:nvPr/>
        </p:nvCxnSpPr>
        <p:spPr>
          <a:xfrm>
            <a:off x="0" y="965775"/>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2513C64C-FD6F-2127-3409-5F6CCA6D3785}"/>
              </a:ext>
            </a:extLst>
          </p:cNvPr>
          <p:cNvSpPr txBox="1"/>
          <p:nvPr/>
        </p:nvSpPr>
        <p:spPr>
          <a:xfrm>
            <a:off x="297180" y="1263446"/>
            <a:ext cx="1485900" cy="677108"/>
          </a:xfrm>
          <a:prstGeom prst="rect">
            <a:avLst/>
          </a:prstGeom>
          <a:noFill/>
        </p:spPr>
        <p:txBody>
          <a:bodyPr wrap="square" rtlCol="0">
            <a:spAutoFit/>
          </a:bodyPr>
          <a:lstStyle/>
          <a:p>
            <a:r>
              <a:rPr lang="ja-JP" altLang="en-US" sz="2000" dirty="0"/>
              <a:t>機能</a:t>
            </a:r>
            <a:endParaRPr lang="en-US" altLang="ja-JP" sz="2000" dirty="0"/>
          </a:p>
          <a:p>
            <a:endParaRPr kumimoji="1" lang="ja-JP" altLang="en-US" dirty="0"/>
          </a:p>
        </p:txBody>
      </p:sp>
      <p:cxnSp>
        <p:nvCxnSpPr>
          <p:cNvPr id="14" name="直線コネクタ 13">
            <a:extLst>
              <a:ext uri="{FF2B5EF4-FFF2-40B4-BE49-F238E27FC236}">
                <a16:creationId xmlns:a16="http://schemas.microsoft.com/office/drawing/2014/main" id="{D4DA5D23-0E12-C4BC-7767-50EB3CFEB3F1}"/>
              </a:ext>
            </a:extLst>
          </p:cNvPr>
          <p:cNvCxnSpPr/>
          <p:nvPr/>
        </p:nvCxnSpPr>
        <p:spPr>
          <a:xfrm>
            <a:off x="5535018" y="1602000"/>
            <a:ext cx="611505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479B1D8-2C39-9821-6B48-9C440AF85A31}"/>
              </a:ext>
            </a:extLst>
          </p:cNvPr>
          <p:cNvCxnSpPr/>
          <p:nvPr/>
        </p:nvCxnSpPr>
        <p:spPr>
          <a:xfrm>
            <a:off x="5535018" y="2154450"/>
            <a:ext cx="611505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27FF0D5F-7EF0-26A1-E9FA-AA7ACF62D2E9}"/>
              </a:ext>
            </a:extLst>
          </p:cNvPr>
          <p:cNvCxnSpPr/>
          <p:nvPr/>
        </p:nvCxnSpPr>
        <p:spPr>
          <a:xfrm>
            <a:off x="5535018" y="2716425"/>
            <a:ext cx="611505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C1068821-DE71-4933-DE50-821896F7CEDB}"/>
              </a:ext>
            </a:extLst>
          </p:cNvPr>
          <p:cNvCxnSpPr/>
          <p:nvPr/>
        </p:nvCxnSpPr>
        <p:spPr>
          <a:xfrm>
            <a:off x="5535018" y="3287925"/>
            <a:ext cx="611505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5286C1FE-99CC-DCA0-8224-ECA66A01DB34}"/>
              </a:ext>
            </a:extLst>
          </p:cNvPr>
          <p:cNvSpPr txBox="1"/>
          <p:nvPr/>
        </p:nvSpPr>
        <p:spPr>
          <a:xfrm>
            <a:off x="8162923" y="1732010"/>
            <a:ext cx="3487141" cy="369332"/>
          </a:xfrm>
          <a:prstGeom prst="rect">
            <a:avLst/>
          </a:prstGeom>
          <a:noFill/>
        </p:spPr>
        <p:txBody>
          <a:bodyPr wrap="square" rtlCol="0">
            <a:spAutoFit/>
          </a:bodyPr>
          <a:lstStyle/>
          <a:p>
            <a:pPr algn="ctr"/>
            <a:r>
              <a:rPr lang="en-US" altLang="ja-JP" dirty="0"/>
              <a:t>Google Maps JavaScript API</a:t>
            </a:r>
            <a:endParaRPr kumimoji="1" lang="ja-JP" altLang="en-US" dirty="0"/>
          </a:p>
        </p:txBody>
      </p:sp>
      <p:sp>
        <p:nvSpPr>
          <p:cNvPr id="26" name="テキスト ボックス 25">
            <a:extLst>
              <a:ext uri="{FF2B5EF4-FFF2-40B4-BE49-F238E27FC236}">
                <a16:creationId xmlns:a16="http://schemas.microsoft.com/office/drawing/2014/main" id="{48655F4F-D4AC-E8C3-FD80-D679BE199A5E}"/>
              </a:ext>
            </a:extLst>
          </p:cNvPr>
          <p:cNvSpPr txBox="1"/>
          <p:nvPr/>
        </p:nvSpPr>
        <p:spPr>
          <a:xfrm>
            <a:off x="8092038" y="2284730"/>
            <a:ext cx="3409950" cy="369332"/>
          </a:xfrm>
          <a:prstGeom prst="rect">
            <a:avLst/>
          </a:prstGeom>
          <a:noFill/>
        </p:spPr>
        <p:txBody>
          <a:bodyPr wrap="square" rtlCol="0">
            <a:spAutoFit/>
          </a:bodyPr>
          <a:lstStyle/>
          <a:p>
            <a:pPr algn="ctr"/>
            <a:r>
              <a:rPr lang="en-US" altLang="ja-JP" dirty="0" err="1"/>
              <a:t>Mapbox</a:t>
            </a:r>
            <a:r>
              <a:rPr lang="en-US" altLang="ja-JP" dirty="0"/>
              <a:t> Search Box API</a:t>
            </a:r>
            <a:endParaRPr kumimoji="1" lang="ja-JP" altLang="en-US" dirty="0"/>
          </a:p>
        </p:txBody>
      </p:sp>
      <p:sp>
        <p:nvSpPr>
          <p:cNvPr id="27" name="テキスト ボックス 26">
            <a:extLst>
              <a:ext uri="{FF2B5EF4-FFF2-40B4-BE49-F238E27FC236}">
                <a16:creationId xmlns:a16="http://schemas.microsoft.com/office/drawing/2014/main" id="{F5A21934-47E1-A15F-FCE7-0E57C9C66652}"/>
              </a:ext>
            </a:extLst>
          </p:cNvPr>
          <p:cNvSpPr txBox="1"/>
          <p:nvPr/>
        </p:nvSpPr>
        <p:spPr>
          <a:xfrm>
            <a:off x="8053442" y="2810733"/>
            <a:ext cx="3487141" cy="369332"/>
          </a:xfrm>
          <a:prstGeom prst="rect">
            <a:avLst/>
          </a:prstGeom>
          <a:noFill/>
        </p:spPr>
        <p:txBody>
          <a:bodyPr wrap="square" rtlCol="0">
            <a:spAutoFit/>
          </a:bodyPr>
          <a:lstStyle/>
          <a:p>
            <a:pPr algn="ctr"/>
            <a:r>
              <a:rPr lang="en-US" altLang="ja-JP" dirty="0" err="1"/>
              <a:t>Mapbox</a:t>
            </a:r>
            <a:r>
              <a:rPr lang="en-US" altLang="ja-JP" dirty="0"/>
              <a:t> Directions API</a:t>
            </a:r>
            <a:endParaRPr kumimoji="1" lang="ja-JP" altLang="en-US" dirty="0"/>
          </a:p>
        </p:txBody>
      </p:sp>
      <p:sp>
        <p:nvSpPr>
          <p:cNvPr id="28" name="テキスト ボックス 27">
            <a:extLst>
              <a:ext uri="{FF2B5EF4-FFF2-40B4-BE49-F238E27FC236}">
                <a16:creationId xmlns:a16="http://schemas.microsoft.com/office/drawing/2014/main" id="{4C98849F-5186-29F6-A287-7FADD9B96F83}"/>
              </a:ext>
            </a:extLst>
          </p:cNvPr>
          <p:cNvSpPr txBox="1"/>
          <p:nvPr/>
        </p:nvSpPr>
        <p:spPr>
          <a:xfrm>
            <a:off x="8053437" y="3372707"/>
            <a:ext cx="3377659" cy="369332"/>
          </a:xfrm>
          <a:prstGeom prst="rect">
            <a:avLst/>
          </a:prstGeom>
          <a:noFill/>
        </p:spPr>
        <p:txBody>
          <a:bodyPr wrap="square" rtlCol="0">
            <a:spAutoFit/>
          </a:bodyPr>
          <a:lstStyle/>
          <a:p>
            <a:pPr algn="ctr"/>
            <a:r>
              <a:rPr lang="en-US" altLang="ja-JP" dirty="0" err="1"/>
              <a:t>SortableJS</a:t>
            </a:r>
            <a:endParaRPr kumimoji="1" lang="ja-JP" altLang="en-US" dirty="0"/>
          </a:p>
        </p:txBody>
      </p:sp>
      <p:cxnSp>
        <p:nvCxnSpPr>
          <p:cNvPr id="18" name="直線コネクタ 17">
            <a:extLst>
              <a:ext uri="{FF2B5EF4-FFF2-40B4-BE49-F238E27FC236}">
                <a16:creationId xmlns:a16="http://schemas.microsoft.com/office/drawing/2014/main" id="{347AB781-CECE-73C9-15FA-E44CFE00476C}"/>
              </a:ext>
            </a:extLst>
          </p:cNvPr>
          <p:cNvCxnSpPr>
            <a:cxnSpLocks/>
          </p:cNvCxnSpPr>
          <p:nvPr/>
        </p:nvCxnSpPr>
        <p:spPr>
          <a:xfrm>
            <a:off x="8092038" y="1207083"/>
            <a:ext cx="0" cy="255973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023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69FC7-50CC-43C6-D8CB-9C76CB3A7363}"/>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A61D93-076B-D77B-1FC1-59EC82EB6B58}"/>
              </a:ext>
            </a:extLst>
          </p:cNvPr>
          <p:cNvSpPr txBox="1"/>
          <p:nvPr/>
        </p:nvSpPr>
        <p:spPr>
          <a:xfrm>
            <a:off x="416560" y="252095"/>
            <a:ext cx="4084320" cy="584775"/>
          </a:xfrm>
          <a:prstGeom prst="rect">
            <a:avLst/>
          </a:prstGeom>
          <a:noFill/>
        </p:spPr>
        <p:txBody>
          <a:bodyPr wrap="square" rtlCol="0">
            <a:spAutoFit/>
          </a:bodyPr>
          <a:lstStyle/>
          <a:p>
            <a:r>
              <a:rPr lang="ja-JP" altLang="en-US" sz="3200" dirty="0"/>
              <a:t>チェックリスト機能</a:t>
            </a:r>
            <a:endParaRPr kumimoji="1" lang="ja-JP" altLang="en-US" sz="3200" dirty="0"/>
          </a:p>
        </p:txBody>
      </p:sp>
      <p:cxnSp>
        <p:nvCxnSpPr>
          <p:cNvPr id="3" name="直線コネクタ 2">
            <a:extLst>
              <a:ext uri="{FF2B5EF4-FFF2-40B4-BE49-F238E27FC236}">
                <a16:creationId xmlns:a16="http://schemas.microsoft.com/office/drawing/2014/main" id="{3C1E8D75-9084-2240-AB78-F0894AA3F007}"/>
              </a:ext>
            </a:extLst>
          </p:cNvPr>
          <p:cNvCxnSpPr>
            <a:cxnSpLocks/>
          </p:cNvCxnSpPr>
          <p:nvPr/>
        </p:nvCxnSpPr>
        <p:spPr>
          <a:xfrm>
            <a:off x="0" y="965775"/>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9CAB1E2-4FFC-1D5C-668F-2FECD3C172FB}"/>
              </a:ext>
            </a:extLst>
          </p:cNvPr>
          <p:cNvSpPr txBox="1"/>
          <p:nvPr/>
        </p:nvSpPr>
        <p:spPr>
          <a:xfrm>
            <a:off x="638174" y="1252121"/>
            <a:ext cx="8943975" cy="954107"/>
          </a:xfrm>
          <a:prstGeom prst="rect">
            <a:avLst/>
          </a:prstGeom>
          <a:noFill/>
        </p:spPr>
        <p:txBody>
          <a:bodyPr wrap="square">
            <a:spAutoFit/>
          </a:bodyPr>
          <a:lstStyle/>
          <a:p>
            <a:r>
              <a:rPr lang="ja-JP" altLang="en-US" sz="1800" b="0" i="0" u="none" strike="noStrike" baseline="0" dirty="0">
                <a:latin typeface="HaranoAjiMincho-Regular-Identity-H"/>
              </a:rPr>
              <a:t>旅行準備を効率的に進められるよう</a:t>
            </a:r>
            <a:r>
              <a:rPr lang="en-US" altLang="ja-JP" sz="2000" b="0" i="0" u="none" strike="noStrike" baseline="0" dirty="0">
                <a:latin typeface="CMR12"/>
              </a:rPr>
              <a:t>, </a:t>
            </a:r>
            <a:r>
              <a:rPr lang="ja-JP" altLang="en-US" sz="1800" b="0" i="0" u="none" strike="noStrike" baseline="0" dirty="0">
                <a:latin typeface="HaranoAjiMincho-Regular-Identity-H"/>
              </a:rPr>
              <a:t>チェックリストに関する</a:t>
            </a:r>
            <a:r>
              <a:rPr lang="ja-JP" altLang="en-US" dirty="0">
                <a:latin typeface="HaranoAjiMincho-Regular-Identity-H"/>
              </a:rPr>
              <a:t>複数</a:t>
            </a:r>
            <a:r>
              <a:rPr lang="ja-JP" altLang="en-US" sz="1800" b="0" i="0" u="none" strike="noStrike" baseline="0" dirty="0">
                <a:latin typeface="HaranoAjiMincho-Regular-Identity-H"/>
              </a:rPr>
              <a:t>の機能を実装</a:t>
            </a:r>
            <a:endParaRPr lang="en-US" altLang="ja-JP" sz="1800" b="0" i="0" u="none" strike="noStrike" baseline="0" dirty="0">
              <a:latin typeface="HaranoAjiMincho-Regular-Identity-H"/>
            </a:endParaRPr>
          </a:p>
          <a:p>
            <a:r>
              <a:rPr lang="en-US" altLang="ja-JP" dirty="0"/>
              <a:t>- </a:t>
            </a:r>
            <a:r>
              <a:rPr lang="ja-JP" altLang="en-US" dirty="0"/>
              <a:t>旅行ごとに標準のチェックリスト設定を適用できる機能</a:t>
            </a:r>
            <a:endParaRPr lang="en-US" altLang="ja-JP" dirty="0"/>
          </a:p>
          <a:p>
            <a:r>
              <a:rPr lang="en-US" altLang="ja-JP" dirty="0"/>
              <a:t>- </a:t>
            </a:r>
            <a:r>
              <a:rPr lang="ja-JP" altLang="en-US" dirty="0"/>
              <a:t>各旅行ごとに持ち物や準備項目を自由に編集できるチェックリスト編集機能</a:t>
            </a:r>
          </a:p>
        </p:txBody>
      </p:sp>
      <p:pic>
        <p:nvPicPr>
          <p:cNvPr id="8" name="図 7">
            <a:extLst>
              <a:ext uri="{FF2B5EF4-FFF2-40B4-BE49-F238E27FC236}">
                <a16:creationId xmlns:a16="http://schemas.microsoft.com/office/drawing/2014/main" id="{D8B49535-C28E-96B6-CE81-D236F8241F54}"/>
              </a:ext>
            </a:extLst>
          </p:cNvPr>
          <p:cNvPicPr>
            <a:picLocks noChangeAspect="1"/>
          </p:cNvPicPr>
          <p:nvPr/>
        </p:nvPicPr>
        <p:blipFill>
          <a:blip r:embed="rId2"/>
          <a:stretch>
            <a:fillRect/>
          </a:stretch>
        </p:blipFill>
        <p:spPr>
          <a:xfrm>
            <a:off x="638174" y="2353351"/>
            <a:ext cx="8488224" cy="1351868"/>
          </a:xfrm>
          <a:prstGeom prst="rect">
            <a:avLst/>
          </a:prstGeom>
        </p:spPr>
      </p:pic>
      <p:pic>
        <p:nvPicPr>
          <p:cNvPr id="12" name="図 11">
            <a:extLst>
              <a:ext uri="{FF2B5EF4-FFF2-40B4-BE49-F238E27FC236}">
                <a16:creationId xmlns:a16="http://schemas.microsoft.com/office/drawing/2014/main" id="{F0D7CED2-265E-6480-F0DE-E0C05BA6D8BF}"/>
              </a:ext>
            </a:extLst>
          </p:cNvPr>
          <p:cNvPicPr>
            <a:picLocks noChangeAspect="1"/>
          </p:cNvPicPr>
          <p:nvPr/>
        </p:nvPicPr>
        <p:blipFill>
          <a:blip r:embed="rId3"/>
          <a:stretch>
            <a:fillRect/>
          </a:stretch>
        </p:blipFill>
        <p:spPr>
          <a:xfrm>
            <a:off x="638174" y="4828499"/>
            <a:ext cx="8497460" cy="1351868"/>
          </a:xfrm>
          <a:prstGeom prst="rect">
            <a:avLst/>
          </a:prstGeom>
        </p:spPr>
      </p:pic>
      <p:sp>
        <p:nvSpPr>
          <p:cNvPr id="13" name="テキスト ボックス 12">
            <a:extLst>
              <a:ext uri="{FF2B5EF4-FFF2-40B4-BE49-F238E27FC236}">
                <a16:creationId xmlns:a16="http://schemas.microsoft.com/office/drawing/2014/main" id="{64F75F5F-C0D8-109D-ED48-B8D55BA91A63}"/>
              </a:ext>
            </a:extLst>
          </p:cNvPr>
          <p:cNvSpPr txBox="1"/>
          <p:nvPr/>
        </p:nvSpPr>
        <p:spPr>
          <a:xfrm>
            <a:off x="581024" y="4005442"/>
            <a:ext cx="11610976" cy="646331"/>
          </a:xfrm>
          <a:prstGeom prst="rect">
            <a:avLst/>
          </a:prstGeom>
          <a:noFill/>
        </p:spPr>
        <p:txBody>
          <a:bodyPr wrap="square" rtlCol="0">
            <a:spAutoFit/>
          </a:bodyPr>
          <a:lstStyle/>
          <a:p>
            <a:r>
              <a:rPr lang="ja-JP" altLang="en-US" dirty="0"/>
              <a:t>各項目のチェック状況を保持する機能を実装し</a:t>
            </a:r>
            <a:r>
              <a:rPr lang="en-US" altLang="ja-JP" dirty="0"/>
              <a:t>, </a:t>
            </a:r>
            <a:r>
              <a:rPr lang="ja-JP" altLang="en-US" dirty="0"/>
              <a:t>ユーザーが確認済みの持ち物を記録できる</a:t>
            </a:r>
            <a:r>
              <a:rPr lang="en-US" altLang="ja-JP" dirty="0"/>
              <a:t>. </a:t>
            </a:r>
          </a:p>
          <a:p>
            <a:r>
              <a:rPr lang="ja-JP" altLang="en-US" dirty="0"/>
              <a:t>これにより</a:t>
            </a:r>
            <a:r>
              <a:rPr lang="en-US" altLang="ja-JP" dirty="0"/>
              <a:t>, </a:t>
            </a:r>
            <a:r>
              <a:rPr lang="ja-JP" altLang="en-US" dirty="0"/>
              <a:t>準備の進捗状況を可視化しながら</a:t>
            </a:r>
            <a:r>
              <a:rPr lang="en-US" altLang="ja-JP" dirty="0"/>
              <a:t>, </a:t>
            </a:r>
            <a:r>
              <a:rPr lang="ja-JP" altLang="en-US" dirty="0"/>
              <a:t>持ち物の確認状況を一目で把握できるようになった</a:t>
            </a:r>
            <a:r>
              <a:rPr lang="en-US" altLang="ja-JP" dirty="0"/>
              <a:t>.</a:t>
            </a:r>
            <a:endParaRPr kumimoji="1" lang="ja-JP" altLang="en-US" dirty="0"/>
          </a:p>
        </p:txBody>
      </p:sp>
    </p:spTree>
    <p:extLst>
      <p:ext uri="{BB962C8B-B14F-4D97-AF65-F5344CB8AC3E}">
        <p14:creationId xmlns:p14="http://schemas.microsoft.com/office/powerpoint/2010/main" val="3393023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CFE1C-D6EF-F977-DE32-1FD0F16F4E52}"/>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9251909D-597B-D5D3-3CF1-A39AD173F97E}"/>
              </a:ext>
            </a:extLst>
          </p:cNvPr>
          <p:cNvPicPr>
            <a:picLocks noChangeAspect="1"/>
          </p:cNvPicPr>
          <p:nvPr/>
        </p:nvPicPr>
        <p:blipFill>
          <a:blip r:embed="rId2"/>
          <a:srcRect l="-1869" r="41441"/>
          <a:stretch>
            <a:fillRect/>
          </a:stretch>
        </p:blipFill>
        <p:spPr>
          <a:xfrm>
            <a:off x="564515" y="707161"/>
            <a:ext cx="3836035" cy="3467310"/>
          </a:xfrm>
          <a:prstGeom prst="rect">
            <a:avLst/>
          </a:prstGeom>
        </p:spPr>
      </p:pic>
      <p:sp>
        <p:nvSpPr>
          <p:cNvPr id="2" name="テキスト ボックス 1">
            <a:extLst>
              <a:ext uri="{FF2B5EF4-FFF2-40B4-BE49-F238E27FC236}">
                <a16:creationId xmlns:a16="http://schemas.microsoft.com/office/drawing/2014/main" id="{A083E636-C87E-E923-0199-4228444FA79B}"/>
              </a:ext>
            </a:extLst>
          </p:cNvPr>
          <p:cNvSpPr txBox="1"/>
          <p:nvPr/>
        </p:nvSpPr>
        <p:spPr>
          <a:xfrm>
            <a:off x="440977" y="285976"/>
            <a:ext cx="2580640" cy="584775"/>
          </a:xfrm>
          <a:prstGeom prst="rect">
            <a:avLst/>
          </a:prstGeom>
          <a:noFill/>
        </p:spPr>
        <p:txBody>
          <a:bodyPr wrap="square" rtlCol="0">
            <a:spAutoFit/>
          </a:bodyPr>
          <a:lstStyle/>
          <a:p>
            <a:r>
              <a:rPr kumimoji="1" lang="ja-JP" altLang="en-US" sz="3200" dirty="0"/>
              <a:t>共有機能</a:t>
            </a:r>
          </a:p>
        </p:txBody>
      </p:sp>
      <p:pic>
        <p:nvPicPr>
          <p:cNvPr id="8" name="図 7">
            <a:extLst>
              <a:ext uri="{FF2B5EF4-FFF2-40B4-BE49-F238E27FC236}">
                <a16:creationId xmlns:a16="http://schemas.microsoft.com/office/drawing/2014/main" id="{3E806ABE-9680-A30A-7F58-2E5FD7709DE9}"/>
              </a:ext>
            </a:extLst>
          </p:cNvPr>
          <p:cNvPicPr>
            <a:picLocks noChangeAspect="1"/>
          </p:cNvPicPr>
          <p:nvPr/>
        </p:nvPicPr>
        <p:blipFill>
          <a:blip r:embed="rId3"/>
          <a:stretch>
            <a:fillRect/>
          </a:stretch>
        </p:blipFill>
        <p:spPr>
          <a:xfrm>
            <a:off x="6114709" y="1447523"/>
            <a:ext cx="4915586" cy="1981477"/>
          </a:xfrm>
          <a:prstGeom prst="rect">
            <a:avLst/>
          </a:prstGeom>
        </p:spPr>
      </p:pic>
      <p:pic>
        <p:nvPicPr>
          <p:cNvPr id="14" name="図 13">
            <a:extLst>
              <a:ext uri="{FF2B5EF4-FFF2-40B4-BE49-F238E27FC236}">
                <a16:creationId xmlns:a16="http://schemas.microsoft.com/office/drawing/2014/main" id="{25F5BD24-C0C4-386A-35E9-2F4B6C2C0D91}"/>
              </a:ext>
            </a:extLst>
          </p:cNvPr>
          <p:cNvPicPr>
            <a:picLocks noChangeAspect="1"/>
          </p:cNvPicPr>
          <p:nvPr/>
        </p:nvPicPr>
        <p:blipFill>
          <a:blip r:embed="rId4"/>
          <a:stretch>
            <a:fillRect/>
          </a:stretch>
        </p:blipFill>
        <p:spPr>
          <a:xfrm>
            <a:off x="6114709" y="4232003"/>
            <a:ext cx="5229566" cy="2241242"/>
          </a:xfrm>
          <a:prstGeom prst="rect">
            <a:avLst/>
          </a:prstGeom>
        </p:spPr>
      </p:pic>
      <p:pic>
        <p:nvPicPr>
          <p:cNvPr id="16" name="図 15">
            <a:extLst>
              <a:ext uri="{FF2B5EF4-FFF2-40B4-BE49-F238E27FC236}">
                <a16:creationId xmlns:a16="http://schemas.microsoft.com/office/drawing/2014/main" id="{FC621B25-B274-1391-31A2-91BD95ADD960}"/>
              </a:ext>
            </a:extLst>
          </p:cNvPr>
          <p:cNvPicPr>
            <a:picLocks noChangeAspect="1"/>
          </p:cNvPicPr>
          <p:nvPr/>
        </p:nvPicPr>
        <p:blipFill>
          <a:blip r:embed="rId5"/>
          <a:stretch>
            <a:fillRect/>
          </a:stretch>
        </p:blipFill>
        <p:spPr>
          <a:xfrm>
            <a:off x="443970" y="4290242"/>
            <a:ext cx="4624596" cy="2090213"/>
          </a:xfrm>
          <a:prstGeom prst="rect">
            <a:avLst/>
          </a:prstGeom>
        </p:spPr>
      </p:pic>
      <p:sp>
        <p:nvSpPr>
          <p:cNvPr id="17" name="テキスト ボックス 16">
            <a:extLst>
              <a:ext uri="{FF2B5EF4-FFF2-40B4-BE49-F238E27FC236}">
                <a16:creationId xmlns:a16="http://schemas.microsoft.com/office/drawing/2014/main" id="{7D39D28B-460A-6C53-A81A-F546F61F85A0}"/>
              </a:ext>
            </a:extLst>
          </p:cNvPr>
          <p:cNvSpPr txBox="1"/>
          <p:nvPr/>
        </p:nvSpPr>
        <p:spPr>
          <a:xfrm>
            <a:off x="564515" y="1025044"/>
            <a:ext cx="8810625" cy="369332"/>
          </a:xfrm>
          <a:prstGeom prst="rect">
            <a:avLst/>
          </a:prstGeom>
          <a:noFill/>
        </p:spPr>
        <p:txBody>
          <a:bodyPr wrap="square" rtlCol="0">
            <a:spAutoFit/>
          </a:bodyPr>
          <a:lstStyle/>
          <a:p>
            <a:r>
              <a:rPr lang="ja-JP" altLang="en-US" dirty="0"/>
              <a:t>ユーザーが作成した旅行計画を他者と共有するためのリンク生成機能を実装</a:t>
            </a:r>
            <a:endParaRPr kumimoji="1" lang="ja-JP" altLang="en-US" dirty="0"/>
          </a:p>
        </p:txBody>
      </p:sp>
      <p:cxnSp>
        <p:nvCxnSpPr>
          <p:cNvPr id="19" name="直線矢印コネクタ 18">
            <a:extLst>
              <a:ext uri="{FF2B5EF4-FFF2-40B4-BE49-F238E27FC236}">
                <a16:creationId xmlns:a16="http://schemas.microsoft.com/office/drawing/2014/main" id="{84E67029-F181-C765-EF9F-95DAB7A76630}"/>
              </a:ext>
            </a:extLst>
          </p:cNvPr>
          <p:cNvCxnSpPr/>
          <p:nvPr/>
        </p:nvCxnSpPr>
        <p:spPr>
          <a:xfrm>
            <a:off x="4969827" y="2238375"/>
            <a:ext cx="878523"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0" name="テキスト ボックス 19">
            <a:extLst>
              <a:ext uri="{FF2B5EF4-FFF2-40B4-BE49-F238E27FC236}">
                <a16:creationId xmlns:a16="http://schemas.microsoft.com/office/drawing/2014/main" id="{89C70B1C-B317-4A19-DC48-A4E2DE2A44D1}"/>
              </a:ext>
            </a:extLst>
          </p:cNvPr>
          <p:cNvSpPr txBox="1"/>
          <p:nvPr/>
        </p:nvSpPr>
        <p:spPr>
          <a:xfrm>
            <a:off x="516782" y="3716131"/>
            <a:ext cx="11557854" cy="369332"/>
          </a:xfrm>
          <a:prstGeom prst="rect">
            <a:avLst/>
          </a:prstGeom>
          <a:noFill/>
        </p:spPr>
        <p:txBody>
          <a:bodyPr wrap="square" rtlCol="0">
            <a:spAutoFit/>
          </a:bodyPr>
          <a:lstStyle/>
          <a:p>
            <a:r>
              <a:rPr lang="ja-JP" altLang="en-US" dirty="0"/>
              <a:t>リンクを受け取った相手は</a:t>
            </a:r>
            <a:r>
              <a:rPr lang="en-US" altLang="ja-JP" dirty="0"/>
              <a:t>, </a:t>
            </a:r>
            <a:r>
              <a:rPr lang="ja-JP" altLang="en-US" dirty="0"/>
              <a:t>共有側が作成したパスワードを入力することで旅行計画の詳細を閲覧できる</a:t>
            </a:r>
            <a:endParaRPr kumimoji="1" lang="ja-JP" altLang="en-US" dirty="0"/>
          </a:p>
        </p:txBody>
      </p:sp>
      <p:cxnSp>
        <p:nvCxnSpPr>
          <p:cNvPr id="21" name="直線矢印コネクタ 20">
            <a:extLst>
              <a:ext uri="{FF2B5EF4-FFF2-40B4-BE49-F238E27FC236}">
                <a16:creationId xmlns:a16="http://schemas.microsoft.com/office/drawing/2014/main" id="{0FE01BF8-BAC0-4558-B0A4-696E13CAEA84}"/>
              </a:ext>
            </a:extLst>
          </p:cNvPr>
          <p:cNvCxnSpPr/>
          <p:nvPr/>
        </p:nvCxnSpPr>
        <p:spPr>
          <a:xfrm>
            <a:off x="5124439" y="5299788"/>
            <a:ext cx="878523"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2" name="直線コネクタ 21">
            <a:extLst>
              <a:ext uri="{FF2B5EF4-FFF2-40B4-BE49-F238E27FC236}">
                <a16:creationId xmlns:a16="http://schemas.microsoft.com/office/drawing/2014/main" id="{97EDE877-B348-DAAC-9C33-F67C2BE37991}"/>
              </a:ext>
            </a:extLst>
          </p:cNvPr>
          <p:cNvCxnSpPr>
            <a:cxnSpLocks/>
          </p:cNvCxnSpPr>
          <p:nvPr/>
        </p:nvCxnSpPr>
        <p:spPr>
          <a:xfrm>
            <a:off x="0" y="870751"/>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49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61B32-730C-EE2D-88E6-0970829A881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EA49626-C9B5-67B7-57B7-6E7F53722946}"/>
              </a:ext>
            </a:extLst>
          </p:cNvPr>
          <p:cNvSpPr txBox="1"/>
          <p:nvPr/>
        </p:nvSpPr>
        <p:spPr>
          <a:xfrm>
            <a:off x="390525" y="285750"/>
            <a:ext cx="1885950" cy="584775"/>
          </a:xfrm>
          <a:prstGeom prst="rect">
            <a:avLst/>
          </a:prstGeom>
          <a:noFill/>
        </p:spPr>
        <p:txBody>
          <a:bodyPr wrap="square" rtlCol="0">
            <a:spAutoFit/>
          </a:bodyPr>
          <a:lstStyle/>
          <a:p>
            <a:r>
              <a:rPr lang="ja-JP" altLang="en-US" sz="3200" dirty="0"/>
              <a:t>参考文献</a:t>
            </a:r>
            <a:endParaRPr kumimoji="1" lang="ja-JP" altLang="en-US" sz="3200" dirty="0"/>
          </a:p>
        </p:txBody>
      </p:sp>
      <p:cxnSp>
        <p:nvCxnSpPr>
          <p:cNvPr id="3" name="直線コネクタ 2">
            <a:extLst>
              <a:ext uri="{FF2B5EF4-FFF2-40B4-BE49-F238E27FC236}">
                <a16:creationId xmlns:a16="http://schemas.microsoft.com/office/drawing/2014/main" id="{9DD82DCB-B7C9-3704-E281-051219A55137}"/>
              </a:ext>
            </a:extLst>
          </p:cNvPr>
          <p:cNvCxnSpPr>
            <a:cxnSpLocks/>
          </p:cNvCxnSpPr>
          <p:nvPr/>
        </p:nvCxnSpPr>
        <p:spPr>
          <a:xfrm>
            <a:off x="0" y="902850"/>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E3584A2A-A683-128B-242F-7EE9E23F61CD}"/>
              </a:ext>
            </a:extLst>
          </p:cNvPr>
          <p:cNvSpPr txBox="1"/>
          <p:nvPr/>
        </p:nvSpPr>
        <p:spPr>
          <a:xfrm>
            <a:off x="771525" y="1013401"/>
            <a:ext cx="11163300" cy="6124754"/>
          </a:xfrm>
          <a:prstGeom prst="rect">
            <a:avLst/>
          </a:prstGeom>
          <a:noFill/>
        </p:spPr>
        <p:txBody>
          <a:bodyPr wrap="square" rtlCol="0">
            <a:spAutoFit/>
          </a:bodyPr>
          <a:lstStyle/>
          <a:p>
            <a:r>
              <a:rPr lang="en-US" altLang="ja-JP" sz="1400" dirty="0">
                <a:latin typeface="游ゴシック" panose="020B0400000000000000" pitchFamily="50" charset="-128"/>
              </a:rPr>
              <a:t>[1]</a:t>
            </a:r>
            <a:r>
              <a:rPr lang="ja-JP" altLang="en-US" sz="1400" dirty="0">
                <a:latin typeface="游ゴシック" panose="020B0400000000000000" pitchFamily="50" charset="-128"/>
              </a:rPr>
              <a:t>旅しお</a:t>
            </a:r>
            <a:endParaRPr lang="en-US" altLang="ja-JP" sz="1400" dirty="0">
              <a:latin typeface="游ゴシック" panose="020B0400000000000000" pitchFamily="50" charset="-128"/>
            </a:endParaRPr>
          </a:p>
          <a:p>
            <a:r>
              <a:rPr lang="ja-JP" altLang="en-US" sz="1400" dirty="0">
                <a:latin typeface="游ゴシック" panose="020B0400000000000000" pitchFamily="50" charset="-128"/>
                <a:hlinkClick r:id="rId2"/>
              </a:rPr>
              <a:t>旅行のしおりをつくる、仲間とシェア。無料</a:t>
            </a:r>
            <a:r>
              <a:rPr lang="en-US" altLang="ja-JP" sz="1400" dirty="0">
                <a:latin typeface="游ゴシック" panose="020B0400000000000000" pitchFamily="50" charset="-128"/>
                <a:hlinkClick r:id="rId2"/>
              </a:rPr>
              <a:t>WEB</a:t>
            </a:r>
            <a:r>
              <a:rPr lang="ja-JP" altLang="en-US" sz="1400" dirty="0">
                <a:latin typeface="游ゴシック" panose="020B0400000000000000" pitchFamily="50" charset="-128"/>
                <a:hlinkClick r:id="rId2"/>
              </a:rPr>
              <a:t>サービス</a:t>
            </a:r>
            <a:r>
              <a:rPr lang="en-US" altLang="ja-JP" sz="1400" dirty="0">
                <a:latin typeface="游ゴシック" panose="020B0400000000000000" pitchFamily="50" charset="-128"/>
                <a:hlinkClick r:id="rId2"/>
              </a:rPr>
              <a:t>【</a:t>
            </a:r>
            <a:r>
              <a:rPr lang="ja-JP" altLang="en-US" sz="1400" dirty="0">
                <a:latin typeface="游ゴシック" panose="020B0400000000000000" pitchFamily="50" charset="-128"/>
                <a:hlinkClick r:id="rId2"/>
              </a:rPr>
              <a:t>旅しお</a:t>
            </a:r>
            <a:r>
              <a:rPr lang="en-US" altLang="ja-JP" sz="1400" dirty="0">
                <a:latin typeface="游ゴシック" panose="020B0400000000000000" pitchFamily="50" charset="-128"/>
                <a:hlinkClick r:id="rId2"/>
              </a:rPr>
              <a:t>】</a:t>
            </a:r>
            <a:r>
              <a:rPr lang="en-US" altLang="ja-JP" sz="1400" dirty="0">
                <a:latin typeface="游ゴシック" panose="020B0400000000000000" pitchFamily="50" charset="-128"/>
              </a:rPr>
              <a:t>, (2025/09/05 accessed).</a:t>
            </a:r>
          </a:p>
          <a:p>
            <a:endParaRPr lang="en-US" altLang="ja-JP" sz="1400" dirty="0">
              <a:latin typeface="游ゴシック" panose="020B0400000000000000" pitchFamily="50" charset="-128"/>
            </a:endParaRPr>
          </a:p>
          <a:p>
            <a:r>
              <a:rPr lang="en-US" altLang="ja-JP" sz="1400" dirty="0">
                <a:latin typeface="游ゴシック" panose="020B0400000000000000" pitchFamily="50" charset="-128"/>
              </a:rPr>
              <a:t>[2]Django</a:t>
            </a:r>
            <a:r>
              <a:rPr lang="ja-JP" altLang="en-US" sz="1400" dirty="0">
                <a:latin typeface="游ゴシック" panose="020B0400000000000000" pitchFamily="50" charset="-128"/>
              </a:rPr>
              <a:t>ドキュメント</a:t>
            </a:r>
            <a:endParaRPr lang="en-US" altLang="ja-JP" sz="1400" dirty="0">
              <a:latin typeface="游ゴシック" panose="020B0400000000000000" pitchFamily="50" charset="-128"/>
            </a:endParaRPr>
          </a:p>
          <a:p>
            <a:r>
              <a:rPr lang="en-US" altLang="ja-JP" sz="1400" dirty="0">
                <a:hlinkClick r:id="rId3"/>
              </a:rPr>
              <a:t>The web framework for perfectionists with deadlines | Django</a:t>
            </a:r>
            <a:r>
              <a:rPr lang="en-US" altLang="ja-JP" sz="1400" dirty="0">
                <a:latin typeface="游ゴシック" panose="020B0400000000000000" pitchFamily="50" charset="-128"/>
              </a:rPr>
              <a:t>, (2025/09/05 accessed).</a:t>
            </a:r>
          </a:p>
          <a:p>
            <a:endParaRPr lang="en-US" altLang="ja-JP" sz="1400" dirty="0">
              <a:latin typeface="游ゴシック" panose="020B0400000000000000" pitchFamily="50" charset="-128"/>
            </a:endParaRPr>
          </a:p>
          <a:p>
            <a:r>
              <a:rPr lang="en-US" altLang="ja-JP" sz="1400" dirty="0">
                <a:latin typeface="游ゴシック" panose="020B0400000000000000" pitchFamily="50" charset="-128"/>
              </a:rPr>
              <a:t>[3]</a:t>
            </a:r>
            <a:r>
              <a:rPr lang="en-US" altLang="ja-JP" sz="1400" dirty="0"/>
              <a:t> GitHub Copilot</a:t>
            </a:r>
            <a:endParaRPr lang="en-US" altLang="ja-JP" sz="1400" dirty="0">
              <a:latin typeface="游ゴシック" panose="020B0400000000000000" pitchFamily="50" charset="-128"/>
            </a:endParaRPr>
          </a:p>
          <a:p>
            <a:r>
              <a:rPr lang="en-US" altLang="ja-JP" sz="1400" dirty="0">
                <a:latin typeface="游ゴシック" panose="020B0400000000000000" pitchFamily="50" charset="-128"/>
                <a:hlinkClick r:id="rId4"/>
              </a:rPr>
              <a:t>https://github.com/</a:t>
            </a:r>
            <a:r>
              <a:rPr lang="en-US" altLang="ja-JP" sz="1400" dirty="0">
                <a:latin typeface="游ゴシック" panose="020B0400000000000000" pitchFamily="50" charset="-128"/>
              </a:rPr>
              <a:t>, (2025/09/05 accessed).</a:t>
            </a:r>
          </a:p>
          <a:p>
            <a:endParaRPr lang="en-US" altLang="ja-JP" sz="1400" dirty="0">
              <a:latin typeface="游ゴシック" panose="020B0400000000000000" pitchFamily="50" charset="-128"/>
            </a:endParaRPr>
          </a:p>
          <a:p>
            <a:r>
              <a:rPr lang="en-US" altLang="ja-JP" sz="1400" dirty="0">
                <a:latin typeface="游ゴシック" panose="020B0400000000000000" pitchFamily="50" charset="-128"/>
              </a:rPr>
              <a:t>[4]</a:t>
            </a:r>
            <a:r>
              <a:rPr lang="en-US" altLang="ja-JP" sz="1400" dirty="0"/>
              <a:t>Google Maps </a:t>
            </a:r>
          </a:p>
          <a:p>
            <a:r>
              <a:rPr lang="en-US" altLang="ja-JP" sz="1400" u="sng" dirty="0">
                <a:hlinkClick r:id="rId5"/>
              </a:rPr>
              <a:t>https://developers.google.com/maps/documentation/javascript/overview?hl=ja</a:t>
            </a:r>
            <a:r>
              <a:rPr lang="en-US" altLang="ja-JP" sz="1400" u="sng" dirty="0"/>
              <a:t>,</a:t>
            </a:r>
            <a:r>
              <a:rPr lang="en-US" altLang="ja-JP" sz="1400" dirty="0"/>
              <a:t>(2025/09/05 </a:t>
            </a:r>
            <a:r>
              <a:rPr lang="en-US" altLang="ja-JP" sz="1400" dirty="0" err="1"/>
              <a:t>accessd</a:t>
            </a:r>
            <a:r>
              <a:rPr lang="en-US" altLang="ja-JP" sz="1400" dirty="0"/>
              <a:t>).</a:t>
            </a:r>
          </a:p>
          <a:p>
            <a:endParaRPr lang="en-US" altLang="ja-JP" sz="1400" dirty="0"/>
          </a:p>
          <a:p>
            <a:r>
              <a:rPr lang="en-US" altLang="ja-JP" sz="1400" dirty="0"/>
              <a:t>[5]Directions </a:t>
            </a:r>
          </a:p>
          <a:p>
            <a:r>
              <a:rPr lang="en-US" altLang="ja-JP" sz="1400" u="sng" dirty="0">
                <a:hlinkClick r:id="rId6"/>
              </a:rPr>
              <a:t>https://docs.mapbox.com/api/navigation/directions/</a:t>
            </a:r>
            <a:r>
              <a:rPr lang="en-US" altLang="ja-JP" sz="1400" u="sng" dirty="0"/>
              <a:t>, </a:t>
            </a:r>
            <a:r>
              <a:rPr lang="en-US" altLang="ja-JP" sz="1400" dirty="0"/>
              <a:t>(2025/12/20 </a:t>
            </a:r>
            <a:r>
              <a:rPr lang="en-US" altLang="ja-JP" sz="1400" dirty="0" err="1"/>
              <a:t>accessd</a:t>
            </a:r>
            <a:r>
              <a:rPr lang="en-US" altLang="ja-JP" sz="1400" dirty="0"/>
              <a:t>).</a:t>
            </a:r>
          </a:p>
          <a:p>
            <a:endParaRPr lang="en-US" altLang="ja-JP" sz="1400" dirty="0"/>
          </a:p>
          <a:p>
            <a:r>
              <a:rPr lang="en-US" altLang="ja-JP" sz="1400" dirty="0"/>
              <a:t>[6]Search Box API</a:t>
            </a:r>
          </a:p>
          <a:p>
            <a:r>
              <a:rPr lang="en-US" altLang="ja-JP" sz="1400" u="sng" dirty="0">
                <a:hlinkClick r:id="rId7"/>
              </a:rPr>
              <a:t>https://docs.mapbox.com/api/search/search-box/</a:t>
            </a:r>
            <a:r>
              <a:rPr lang="en-US" altLang="ja-JP" sz="1400" u="sng" dirty="0"/>
              <a:t>. </a:t>
            </a:r>
            <a:r>
              <a:rPr lang="en-US" altLang="ja-JP" sz="1400" dirty="0"/>
              <a:t>(2025/12/20 </a:t>
            </a:r>
            <a:r>
              <a:rPr lang="en-US" altLang="ja-JP" sz="1400" dirty="0" err="1"/>
              <a:t>accessd</a:t>
            </a:r>
            <a:r>
              <a:rPr lang="en-US" altLang="ja-JP" sz="1400" dirty="0"/>
              <a:t>).</a:t>
            </a:r>
          </a:p>
          <a:p>
            <a:endParaRPr lang="en-US" altLang="ja-JP" sz="1400" dirty="0"/>
          </a:p>
          <a:p>
            <a:r>
              <a:rPr lang="en-US" altLang="ja-JP" sz="1400" dirty="0"/>
              <a:t>[7]signals</a:t>
            </a:r>
          </a:p>
          <a:p>
            <a:r>
              <a:rPr lang="en-US" altLang="ja-JP" sz="1400" u="sng" dirty="0">
                <a:hlinkClick r:id="rId8"/>
              </a:rPr>
              <a:t>https://docs.djangoproject.com/ja/6.0/topics/signals//</a:t>
            </a:r>
            <a:r>
              <a:rPr lang="en-US" altLang="ja-JP" sz="1400" u="sng" dirty="0"/>
              <a:t>, </a:t>
            </a:r>
            <a:r>
              <a:rPr lang="en-US" altLang="ja-JP" sz="1400" dirty="0"/>
              <a:t>(2025/12/20 </a:t>
            </a:r>
            <a:r>
              <a:rPr lang="en-US" altLang="ja-JP" sz="1400" dirty="0" err="1"/>
              <a:t>accessd</a:t>
            </a:r>
            <a:r>
              <a:rPr lang="en-US" altLang="ja-JP" sz="1400" dirty="0"/>
              <a:t>).</a:t>
            </a:r>
          </a:p>
          <a:p>
            <a:endParaRPr lang="en-US" altLang="ja-JP" sz="1400" dirty="0"/>
          </a:p>
          <a:p>
            <a:r>
              <a:rPr lang="en-US" altLang="ja-JP" sz="1400" dirty="0"/>
              <a:t>[8]Bootstrap </a:t>
            </a:r>
          </a:p>
          <a:p>
            <a:r>
              <a:rPr lang="en-US" altLang="ja-JP" sz="1400" u="sng" dirty="0">
                <a:hlinkClick r:id="rId9"/>
              </a:rPr>
              <a:t>https://getbootstrap.com/docs/5.1/getting-started/introduction/</a:t>
            </a:r>
            <a:r>
              <a:rPr lang="en-US" altLang="ja-JP" sz="1400" u="sng" dirty="0"/>
              <a:t>, </a:t>
            </a:r>
            <a:r>
              <a:rPr lang="en-US" altLang="ja-JP" sz="1400" dirty="0"/>
              <a:t>(2025/09/05 </a:t>
            </a:r>
            <a:r>
              <a:rPr lang="en-US" altLang="ja-JP" sz="1400" dirty="0" err="1"/>
              <a:t>accessd</a:t>
            </a:r>
            <a:r>
              <a:rPr lang="en-US" altLang="ja-JP" sz="1400" dirty="0"/>
              <a:t>).</a:t>
            </a:r>
          </a:p>
          <a:p>
            <a:endParaRPr lang="en-US" altLang="ja-JP" sz="1400" dirty="0"/>
          </a:p>
          <a:p>
            <a:r>
              <a:rPr lang="en-US" altLang="ja-JP" sz="1400" dirty="0"/>
              <a:t>[8]Font Awesome </a:t>
            </a:r>
          </a:p>
          <a:p>
            <a:r>
              <a:rPr lang="en-US" altLang="ja-JP" sz="1400" u="sng" dirty="0">
                <a:hlinkClick r:id="rId10"/>
              </a:rPr>
              <a:t>https://fontawesome.com/</a:t>
            </a:r>
            <a:r>
              <a:rPr lang="en-US" altLang="ja-JP" sz="1400" u="sng" dirty="0"/>
              <a:t>,</a:t>
            </a:r>
            <a:r>
              <a:rPr lang="en-US" altLang="ja-JP" sz="1400" dirty="0"/>
              <a:t>(2025/09/05 </a:t>
            </a:r>
            <a:r>
              <a:rPr lang="en-US" altLang="ja-JP" sz="1400" dirty="0" err="1"/>
              <a:t>accessd</a:t>
            </a:r>
            <a:r>
              <a:rPr lang="en-US" altLang="ja-JP" sz="1400" dirty="0"/>
              <a:t>).</a:t>
            </a:r>
            <a:endParaRPr lang="en-US" altLang="ja-JP" sz="1400" dirty="0">
              <a:latin typeface="游ゴシック" panose="020B0400000000000000" pitchFamily="50" charset="-128"/>
            </a:endParaRPr>
          </a:p>
          <a:p>
            <a:endParaRPr kumimoji="1" lang="ja-JP" altLang="en-US" sz="1400" dirty="0"/>
          </a:p>
        </p:txBody>
      </p:sp>
    </p:spTree>
    <p:extLst>
      <p:ext uri="{BB962C8B-B14F-4D97-AF65-F5344CB8AC3E}">
        <p14:creationId xmlns:p14="http://schemas.microsoft.com/office/powerpoint/2010/main" val="418709603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TotalTime>
  <Words>798</Words>
  <Application>Microsoft Office PowerPoint</Application>
  <PresentationFormat>ワイド画面</PresentationFormat>
  <Paragraphs>95</Paragraphs>
  <Slides>9</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9</vt:i4>
      </vt:variant>
    </vt:vector>
  </HeadingPairs>
  <TitlesOfParts>
    <vt:vector size="17" baseType="lpstr">
      <vt:lpstr>CMR10</vt:lpstr>
      <vt:lpstr>CMR12</vt:lpstr>
      <vt:lpstr>HaranoAjiMincho-Regular-Identity-H</vt:lpstr>
      <vt:lpstr>Noto Sans JP Bold</vt:lpstr>
      <vt:lpstr>游ゴシック Light</vt:lpstr>
      <vt:lpstr>Arial</vt:lpstr>
      <vt:lpstr>游ゴシック</vt:lpstr>
      <vt:lpstr>Office テーマ</vt:lpstr>
      <vt:lpstr>デジタル版しおりの開発</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果音 山本</dc:creator>
  <cp:lastModifiedBy>果音 山本</cp:lastModifiedBy>
  <cp:revision>4</cp:revision>
  <dcterms:created xsi:type="dcterms:W3CDTF">2026-02-05T01:00:49Z</dcterms:created>
  <dcterms:modified xsi:type="dcterms:W3CDTF">2026-02-07T12:24:31Z</dcterms:modified>
</cp:coreProperties>
</file>