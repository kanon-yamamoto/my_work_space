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61" r:id="rId5"/>
    <p:sldId id="262" r:id="rId6"/>
    <p:sldId id="264" r:id="rId7"/>
    <p:sldId id="263" r:id="rId8"/>
    <p:sldId id="265" r:id="rId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9087" autoAdjust="0"/>
  </p:normalViewPr>
  <p:slideViewPr>
    <p:cSldViewPr snapToGrid="0">
      <p:cViewPr varScale="1">
        <p:scale>
          <a:sx n="67" d="100"/>
          <a:sy n="67" d="100"/>
        </p:scale>
        <p:origin x="1296"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A21E39-0CF7-444B-9E08-38521256C5BD}" type="datetimeFigureOut">
              <a:rPr kumimoji="1" lang="ja-JP" altLang="en-US" smtClean="0"/>
              <a:t>2026/2/10</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1E0134-A0D1-45BA-A7E7-F8CF222E6417}" type="slidenum">
              <a:rPr kumimoji="1" lang="ja-JP" altLang="en-US" smtClean="0"/>
              <a:t>‹#›</a:t>
            </a:fld>
            <a:endParaRPr kumimoji="1" lang="ja-JP" altLang="en-US"/>
          </a:p>
        </p:txBody>
      </p:sp>
    </p:spTree>
    <p:extLst>
      <p:ext uri="{BB962C8B-B14F-4D97-AF65-F5344CB8AC3E}">
        <p14:creationId xmlns:p14="http://schemas.microsoft.com/office/powerpoint/2010/main" val="303915726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遠足などで用いられているしおりと呼ばれるものは、</a:t>
            </a:r>
            <a:r>
              <a:rPr lang="ja-JP" altLang="en-US" dirty="0">
                <a:latin typeface="HaranoAjiMincho-Regular-Identity-H"/>
              </a:rPr>
              <a:t>旅程の把握や所持品の確認</a:t>
            </a:r>
            <a:r>
              <a:rPr lang="ja-JP" altLang="en-US" dirty="0">
                <a:latin typeface="CMR10"/>
              </a:rPr>
              <a:t>、</a:t>
            </a:r>
            <a:r>
              <a:rPr lang="ja-JP" altLang="en-US" dirty="0">
                <a:latin typeface="HaranoAjiMincho-Regular-Identity-H"/>
              </a:rPr>
              <a:t>集合時間の共有などを目的とした重要な情報媒体です</a:t>
            </a:r>
            <a:r>
              <a:rPr lang="en-US" altLang="ja-JP" dirty="0">
                <a:latin typeface="HaranoAjiMincho-Regular-Identity-H"/>
              </a:rPr>
              <a:t>.</a:t>
            </a:r>
          </a:p>
          <a:p>
            <a:r>
              <a:rPr kumimoji="1" lang="ja-JP" altLang="en-US" dirty="0">
                <a:latin typeface="HaranoAjiMincho-Regular-Identity-H"/>
              </a:rPr>
              <a:t>今までは紙のしおりが用いられていましたが、現在はスマートファンなどが普及していることから</a:t>
            </a:r>
            <a:r>
              <a:rPr lang="en-US" altLang="ja-JP" dirty="0"/>
              <a:t>Web</a:t>
            </a:r>
            <a:r>
              <a:rPr lang="ja-JP" altLang="en-US" dirty="0"/>
              <a:t>サービスを活用するニーズが高まっており、「旅しお」などのサービスが登場しています。</a:t>
            </a:r>
            <a:endParaRPr lang="en-US" altLang="ja-JP" dirty="0"/>
          </a:p>
          <a:p>
            <a:r>
              <a:rPr kumimoji="1" lang="ja-JP" altLang="en-US" dirty="0"/>
              <a:t>しかし、旅しおには</a:t>
            </a:r>
            <a:r>
              <a:rPr kumimoji="1" lang="en-US" altLang="ja-JP" dirty="0"/>
              <a:t>3</a:t>
            </a:r>
            <a:r>
              <a:rPr kumimoji="1" lang="ja-JP" altLang="en-US" dirty="0"/>
              <a:t>つのデメリットがあると考えています</a:t>
            </a:r>
            <a:r>
              <a:rPr kumimoji="1" lang="en-US" altLang="ja-JP" dirty="0"/>
              <a:t>.</a:t>
            </a:r>
          </a:p>
          <a:p>
            <a:r>
              <a:rPr lang="en-US" altLang="ja-JP" dirty="0"/>
              <a:t>1</a:t>
            </a:r>
            <a:r>
              <a:rPr lang="ja-JP" altLang="en-US" dirty="0"/>
              <a:t>つ目は、</a:t>
            </a:r>
            <a:r>
              <a:rPr lang="en-US" altLang="ja-JP" dirty="0"/>
              <a:t> </a:t>
            </a:r>
            <a:r>
              <a:rPr lang="ja-JP" altLang="en-US" dirty="0"/>
              <a:t>旅行名や説明文に対するキーワード検索機能が存在しないため</a:t>
            </a:r>
            <a:r>
              <a:rPr lang="en-US" altLang="ja-JP" dirty="0"/>
              <a:t>, </a:t>
            </a:r>
          </a:p>
          <a:p>
            <a:r>
              <a:rPr lang="ja-JP" altLang="en-US" dirty="0"/>
              <a:t>スクロール操作によって目的のしおりを探す必要があるということです</a:t>
            </a:r>
            <a:r>
              <a:rPr lang="en-US" altLang="ja-JP" dirty="0"/>
              <a:t>.</a:t>
            </a:r>
          </a:p>
          <a:p>
            <a:endParaRPr lang="en-US" altLang="ja-JP" dirty="0"/>
          </a:p>
          <a:p>
            <a:r>
              <a:rPr lang="ja-JP" altLang="en-US" dirty="0"/>
              <a:t>２つ目は地図表示機能がないため</a:t>
            </a:r>
            <a:r>
              <a:rPr lang="en-US" altLang="ja-JP" dirty="0"/>
              <a:t>, </a:t>
            </a:r>
            <a:r>
              <a:rPr lang="ja-JP" altLang="en-US" dirty="0"/>
              <a:t>目的地の位置関係や全体像を視覚的に理解するこ</a:t>
            </a:r>
          </a:p>
          <a:p>
            <a:r>
              <a:rPr lang="ja-JP" altLang="en-US" dirty="0"/>
              <a:t>とが難しく</a:t>
            </a:r>
            <a:r>
              <a:rPr lang="en-US" altLang="ja-JP" dirty="0"/>
              <a:t>, </a:t>
            </a:r>
            <a:r>
              <a:rPr lang="ja-JP" altLang="en-US" dirty="0"/>
              <a:t>利用者は外部ツールや手作業で補完しなければならないということです</a:t>
            </a:r>
            <a:r>
              <a:rPr lang="en-US" altLang="ja-JP" dirty="0"/>
              <a:t>.</a:t>
            </a:r>
          </a:p>
          <a:p>
            <a:endParaRPr lang="en-US" altLang="ja-JP" dirty="0"/>
          </a:p>
          <a:p>
            <a:r>
              <a:rPr lang="ja-JP" altLang="en-US" dirty="0"/>
              <a:t>３つ目は、</a:t>
            </a:r>
            <a:r>
              <a:rPr lang="en-US" altLang="ja-JP" dirty="0"/>
              <a:t> </a:t>
            </a:r>
            <a:r>
              <a:rPr lang="ja-JP" altLang="en-US" dirty="0"/>
              <a:t>移動時間の自動算出機能が存在しないため</a:t>
            </a:r>
            <a:r>
              <a:rPr lang="en-US" altLang="ja-JP" dirty="0"/>
              <a:t>, </a:t>
            </a:r>
            <a:r>
              <a:rPr lang="ja-JP" altLang="en-US" dirty="0"/>
              <a:t>各目的地間の所要時間を手動で調べる必要があるということです。</a:t>
            </a:r>
            <a:endParaRPr lang="en-US" altLang="ja-JP" dirty="0"/>
          </a:p>
          <a:p>
            <a:endParaRPr kumimoji="1" lang="en-US" altLang="ja-JP" dirty="0"/>
          </a:p>
          <a:p>
            <a:r>
              <a:rPr kumimoji="1" lang="ja-JP" altLang="en-US" dirty="0"/>
              <a:t>そこで私は</a:t>
            </a:r>
            <a:r>
              <a:rPr lang="ja-JP" altLang="en-US" dirty="0">
                <a:solidFill>
                  <a:srgbClr val="FF0000"/>
                </a:solidFill>
              </a:rPr>
              <a:t>視覚的な理解と効率的に旅行計画を行える</a:t>
            </a:r>
            <a:endParaRPr lang="en-US" altLang="ja-JP" dirty="0">
              <a:solidFill>
                <a:srgbClr val="FF0000"/>
              </a:solidFill>
            </a:endParaRPr>
          </a:p>
          <a:p>
            <a:r>
              <a:rPr lang="ja-JP" altLang="en-US" dirty="0">
                <a:solidFill>
                  <a:srgbClr val="FF0000"/>
                </a:solidFill>
              </a:rPr>
              <a:t>「デジタル版しおり」として機能する旅行アプリの開発を行いました</a:t>
            </a:r>
            <a:endParaRPr kumimoji="1" lang="ja-JP" altLang="en-US" dirty="0"/>
          </a:p>
          <a:p>
            <a:endParaRPr kumimoji="1" lang="ja-JP" altLang="en-US" dirty="0"/>
          </a:p>
        </p:txBody>
      </p:sp>
      <p:sp>
        <p:nvSpPr>
          <p:cNvPr id="4" name="スライド番号プレースホルダー 3"/>
          <p:cNvSpPr>
            <a:spLocks noGrp="1"/>
          </p:cNvSpPr>
          <p:nvPr>
            <p:ph type="sldNum" sz="quarter" idx="5"/>
          </p:nvPr>
        </p:nvSpPr>
        <p:spPr/>
        <p:txBody>
          <a:bodyPr/>
          <a:lstStyle/>
          <a:p>
            <a:fld id="{091E0134-A0D1-45BA-A7E7-F8CF222E6417}" type="slidenum">
              <a:rPr kumimoji="1" lang="ja-JP" altLang="en-US" smtClean="0"/>
              <a:t>2</a:t>
            </a:fld>
            <a:endParaRPr kumimoji="1" lang="ja-JP" altLang="en-US"/>
          </a:p>
        </p:txBody>
      </p:sp>
    </p:spTree>
    <p:extLst>
      <p:ext uri="{BB962C8B-B14F-4D97-AF65-F5344CB8AC3E}">
        <p14:creationId xmlns:p14="http://schemas.microsoft.com/office/powerpoint/2010/main" val="12572363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b="0" i="0" u="none" strike="noStrike" kern="1200" baseline="0" dirty="0">
                <a:solidFill>
                  <a:schemeClr val="tx1"/>
                </a:solidFill>
                <a:latin typeface="+mn-lt"/>
                <a:ea typeface="+mn-ea"/>
                <a:cs typeface="+mn-cs"/>
              </a:rPr>
              <a:t>では開発手法についてご説明いたします</a:t>
            </a:r>
            <a:r>
              <a:rPr kumimoji="1" lang="en-US" altLang="ja-JP" sz="1200" b="0" i="0" u="none" strike="noStrike" kern="1200" baseline="0" dirty="0">
                <a:solidFill>
                  <a:schemeClr val="tx1"/>
                </a:solidFill>
                <a:latin typeface="+mn-lt"/>
                <a:ea typeface="+mn-ea"/>
                <a:cs typeface="+mn-cs"/>
              </a:rPr>
              <a:t>.</a:t>
            </a:r>
          </a:p>
          <a:p>
            <a:r>
              <a:rPr kumimoji="1" lang="ja-JP" altLang="en-US" sz="1200" b="0" i="0" u="none" strike="noStrike" kern="1200" baseline="0" dirty="0">
                <a:solidFill>
                  <a:schemeClr val="tx1"/>
                </a:solidFill>
                <a:latin typeface="+mn-lt"/>
                <a:ea typeface="+mn-ea"/>
                <a:cs typeface="+mn-cs"/>
              </a:rPr>
              <a:t>本研究では</a:t>
            </a:r>
            <a:r>
              <a:rPr kumimoji="1" lang="en-US" altLang="ja-JP" sz="1200" b="0" i="0" u="none" strike="noStrike" kern="1200" baseline="0" dirty="0">
                <a:solidFill>
                  <a:schemeClr val="tx1"/>
                </a:solidFill>
                <a:latin typeface="+mn-lt"/>
                <a:ea typeface="+mn-ea"/>
                <a:cs typeface="+mn-cs"/>
              </a:rPr>
              <a:t>, </a:t>
            </a:r>
            <a:r>
              <a:rPr kumimoji="1" lang="ja-JP" altLang="en-US" sz="1200" b="0" i="0" u="none" strike="noStrike" kern="1200" baseline="0" dirty="0">
                <a:solidFill>
                  <a:schemeClr val="tx1"/>
                </a:solidFill>
                <a:latin typeface="+mn-lt"/>
                <a:ea typeface="+mn-ea"/>
                <a:cs typeface="+mn-cs"/>
              </a:rPr>
              <a:t>機能ごとに優先順位を設定し</a:t>
            </a:r>
            <a:r>
              <a:rPr kumimoji="1" lang="en-US" altLang="ja-JP" sz="1200" b="0" i="0" u="none" strike="noStrike" kern="1200" baseline="0" dirty="0">
                <a:solidFill>
                  <a:schemeClr val="tx1"/>
                </a:solidFill>
                <a:latin typeface="+mn-lt"/>
                <a:ea typeface="+mn-ea"/>
                <a:cs typeface="+mn-cs"/>
              </a:rPr>
              <a:t>, </a:t>
            </a:r>
            <a:r>
              <a:rPr kumimoji="1" lang="ja-JP" altLang="en-US" sz="1200" b="0" i="0" u="none" strike="noStrike" kern="1200" baseline="0" dirty="0">
                <a:solidFill>
                  <a:schemeClr val="tx1"/>
                </a:solidFill>
                <a:latin typeface="+mn-lt"/>
                <a:ea typeface="+mn-ea"/>
                <a:cs typeface="+mn-cs"/>
              </a:rPr>
              <a:t>それぞれについて計画・設計・実装・テストの工程を小刻みに繰り返すアジャイル開発手法を採用しました</a:t>
            </a:r>
            <a:r>
              <a:rPr kumimoji="1" lang="en-US" altLang="ja-JP" sz="1200" b="0" i="0" u="none" strike="noStrike" kern="1200" baseline="0" dirty="0">
                <a:solidFill>
                  <a:schemeClr val="tx1"/>
                </a:solidFill>
                <a:latin typeface="+mn-lt"/>
                <a:ea typeface="+mn-ea"/>
                <a:cs typeface="+mn-cs"/>
              </a:rPr>
              <a:t>. </a:t>
            </a:r>
          </a:p>
          <a:p>
            <a:r>
              <a:rPr kumimoji="1" lang="ja-JP" altLang="en-US" sz="1200" b="0" i="0" u="none" strike="noStrike" kern="1200" baseline="0" dirty="0">
                <a:solidFill>
                  <a:schemeClr val="tx1"/>
                </a:solidFill>
                <a:latin typeface="+mn-lt"/>
                <a:ea typeface="+mn-ea"/>
                <a:cs typeface="+mn-cs"/>
              </a:rPr>
              <a:t>これにより</a:t>
            </a:r>
            <a:r>
              <a:rPr kumimoji="1" lang="en-US" altLang="ja-JP" sz="1200" b="0" i="0" u="none" strike="noStrike" kern="1200" baseline="0" dirty="0">
                <a:solidFill>
                  <a:schemeClr val="tx1"/>
                </a:solidFill>
                <a:latin typeface="+mn-lt"/>
                <a:ea typeface="+mn-ea"/>
                <a:cs typeface="+mn-cs"/>
              </a:rPr>
              <a:t>, </a:t>
            </a:r>
            <a:r>
              <a:rPr kumimoji="1" lang="ja-JP" altLang="en-US" sz="1200" b="0" i="0" u="none" strike="noStrike" kern="1200" baseline="0" dirty="0">
                <a:solidFill>
                  <a:schemeClr val="tx1"/>
                </a:solidFill>
                <a:latin typeface="+mn-lt"/>
                <a:ea typeface="+mn-ea"/>
                <a:cs typeface="+mn-cs"/>
              </a:rPr>
              <a:t>利用者の視点を反映した機能の追加や調整が可能となり</a:t>
            </a:r>
            <a:r>
              <a:rPr kumimoji="1" lang="en-US" altLang="ja-JP" sz="1200" b="0" i="0" u="none" strike="noStrike" kern="1200" baseline="0" dirty="0">
                <a:solidFill>
                  <a:schemeClr val="tx1"/>
                </a:solidFill>
                <a:latin typeface="+mn-lt"/>
                <a:ea typeface="+mn-ea"/>
                <a:cs typeface="+mn-cs"/>
              </a:rPr>
              <a:t>,</a:t>
            </a:r>
            <a:r>
              <a:rPr lang="ja-JP" altLang="en-US" dirty="0"/>
              <a:t>効率的に成果を上げることができました</a:t>
            </a:r>
            <a:r>
              <a:rPr lang="en-US" altLang="ja-JP"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また、開発環境</a:t>
            </a:r>
            <a:r>
              <a:rPr kumimoji="1" lang="ja-JP" altLang="en-US" sz="1200" dirty="0"/>
              <a:t>は</a:t>
            </a:r>
            <a:r>
              <a:rPr kumimoji="1" lang="en-US" altLang="ja-JP" sz="1200" dirty="0"/>
              <a:t>Django</a:t>
            </a:r>
            <a:r>
              <a:rPr kumimoji="1" lang="ja-JP" altLang="en-US" sz="1200" dirty="0"/>
              <a:t>を選定しました</a:t>
            </a:r>
            <a:r>
              <a:rPr kumimoji="1" lang="en-US" altLang="ja-JP" sz="1200"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p>
        </p:txBody>
      </p:sp>
      <p:sp>
        <p:nvSpPr>
          <p:cNvPr id="4" name="スライド番号プレースホルダー 3"/>
          <p:cNvSpPr>
            <a:spLocks noGrp="1"/>
          </p:cNvSpPr>
          <p:nvPr>
            <p:ph type="sldNum" sz="quarter" idx="5"/>
          </p:nvPr>
        </p:nvSpPr>
        <p:spPr/>
        <p:txBody>
          <a:bodyPr/>
          <a:lstStyle/>
          <a:p>
            <a:fld id="{091E0134-A0D1-45BA-A7E7-F8CF222E6417}" type="slidenum">
              <a:rPr kumimoji="1" lang="ja-JP" altLang="en-US" smtClean="0"/>
              <a:t>3</a:t>
            </a:fld>
            <a:endParaRPr kumimoji="1" lang="ja-JP" altLang="en-US"/>
          </a:p>
        </p:txBody>
      </p:sp>
    </p:spTree>
    <p:extLst>
      <p:ext uri="{BB962C8B-B14F-4D97-AF65-F5344CB8AC3E}">
        <p14:creationId xmlns:p14="http://schemas.microsoft.com/office/powerpoint/2010/main" val="3015833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ここからは、本アプリの基本的な利用の流れについてご説明します。</a:t>
            </a:r>
            <a:endParaRPr lang="en-US" altLang="ja-JP" dirty="0"/>
          </a:p>
          <a:p>
            <a:r>
              <a:rPr lang="ja-JP" altLang="en-US" dirty="0"/>
              <a:t> まず、リンクを開くとログイン画面が表示されます。 </a:t>
            </a:r>
            <a:endParaRPr lang="en-US" altLang="ja-JP" dirty="0"/>
          </a:p>
          <a:p>
            <a:r>
              <a:rPr lang="ja-JP" altLang="en-US" dirty="0"/>
              <a:t>ユーザーがまだ登録していない場合は、ユーザー名とパスワードを設定して新規登録を行います。 </a:t>
            </a:r>
            <a:endParaRPr lang="en-US" altLang="ja-JP" dirty="0"/>
          </a:p>
          <a:p>
            <a:r>
              <a:rPr lang="ja-JP" altLang="en-US" dirty="0"/>
              <a:t>ログインが完了すると、旅行一覧画面が表示され、これまでに作成した旅行カードが一覧で確認できます。</a:t>
            </a:r>
            <a:endParaRPr lang="en-US" altLang="ja-JP" dirty="0"/>
          </a:p>
          <a:p>
            <a:r>
              <a:rPr lang="ja-JP" altLang="en-US" dirty="0"/>
              <a:t>画面右上の</a:t>
            </a:r>
            <a:r>
              <a:rPr lang="en-US" altLang="ja-JP" dirty="0"/>
              <a:t>『</a:t>
            </a:r>
            <a:r>
              <a:rPr lang="ja-JP" altLang="en-US" dirty="0"/>
              <a:t>新しい旅行を作成</a:t>
            </a:r>
            <a:r>
              <a:rPr lang="en-US" altLang="ja-JP" dirty="0"/>
              <a:t>』</a:t>
            </a:r>
            <a:r>
              <a:rPr lang="ja-JP" altLang="en-US" dirty="0"/>
              <a:t>ボタンを押すと、旅行カード作成画面に遷移し、旅行のタイトルや日程などを入力することで新しい旅行カードを作成できます。 </a:t>
            </a:r>
            <a:endParaRPr lang="en-US" altLang="ja-JP" dirty="0"/>
          </a:p>
          <a:p>
            <a:r>
              <a:rPr lang="ja-JP" altLang="en-US" dirty="0"/>
              <a:t>このように、ユーザーは直感的な操作で旅行の記録を始めることができます。」</a:t>
            </a:r>
            <a:endParaRPr kumimoji="1" lang="ja-JP" altLang="en-US" dirty="0"/>
          </a:p>
        </p:txBody>
      </p:sp>
      <p:sp>
        <p:nvSpPr>
          <p:cNvPr id="4" name="スライド番号プレースホルダー 3"/>
          <p:cNvSpPr>
            <a:spLocks noGrp="1"/>
          </p:cNvSpPr>
          <p:nvPr>
            <p:ph type="sldNum" sz="quarter" idx="5"/>
          </p:nvPr>
        </p:nvSpPr>
        <p:spPr/>
        <p:txBody>
          <a:bodyPr/>
          <a:lstStyle/>
          <a:p>
            <a:fld id="{091E0134-A0D1-45BA-A7E7-F8CF222E6417}" type="slidenum">
              <a:rPr kumimoji="1" lang="ja-JP" altLang="en-US" smtClean="0"/>
              <a:t>4</a:t>
            </a:fld>
            <a:endParaRPr kumimoji="1" lang="ja-JP" altLang="en-US"/>
          </a:p>
        </p:txBody>
      </p:sp>
    </p:spTree>
    <p:extLst>
      <p:ext uri="{BB962C8B-B14F-4D97-AF65-F5344CB8AC3E}">
        <p14:creationId xmlns:p14="http://schemas.microsoft.com/office/powerpoint/2010/main" val="22784984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effectLst/>
              </a:rPr>
              <a:t>次にご紹介するのは、旅行詳細画面です。 </a:t>
            </a:r>
            <a:endParaRPr lang="en-US" altLang="ja-JP"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effectLst/>
              </a:rPr>
              <a:t>この画面では、旅行ごとの具体的な計画を立てることができます。 </a:t>
            </a:r>
            <a:endParaRPr lang="en-US" altLang="ja-JP"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effectLst/>
              </a:rPr>
              <a:t>主な機能としては、地図の表示、観光地の登録、観光地間の移動時間の自動算出、訪問順序の入れ替え、そしてタブによる画面切り替えが可能です。</a:t>
            </a:r>
            <a:endParaRPr lang="en-US" altLang="ja-JP"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effectLst/>
              </a:rPr>
              <a:t> これらの機能は、右上に記載している使用技術を活用して実装しました。 </a:t>
            </a:r>
            <a:endParaRPr lang="en-US" altLang="ja-JP"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effectLst/>
              </a:rPr>
              <a:t>その結果、下の図のように、視覚的にわかりやすく、操作しやすい旅行詳細画面を実現しています。</a:t>
            </a:r>
          </a:p>
          <a:p>
            <a:r>
              <a:rPr kumimoji="1" lang="ja-JP" altLang="en-US" dirty="0"/>
              <a:t>また、この旅行詳細は共有を行うことができます。</a:t>
            </a:r>
            <a:endParaRPr kumimoji="1" lang="en-US" altLang="ja-JP" dirty="0"/>
          </a:p>
        </p:txBody>
      </p:sp>
      <p:sp>
        <p:nvSpPr>
          <p:cNvPr id="4" name="スライド番号プレースホルダー 3"/>
          <p:cNvSpPr>
            <a:spLocks noGrp="1"/>
          </p:cNvSpPr>
          <p:nvPr>
            <p:ph type="sldNum" sz="quarter" idx="5"/>
          </p:nvPr>
        </p:nvSpPr>
        <p:spPr/>
        <p:txBody>
          <a:bodyPr/>
          <a:lstStyle/>
          <a:p>
            <a:fld id="{091E0134-A0D1-45BA-A7E7-F8CF222E6417}" type="slidenum">
              <a:rPr kumimoji="1" lang="ja-JP" altLang="en-US" smtClean="0"/>
              <a:t>5</a:t>
            </a:fld>
            <a:endParaRPr kumimoji="1" lang="ja-JP" altLang="en-US"/>
          </a:p>
        </p:txBody>
      </p:sp>
    </p:spTree>
    <p:extLst>
      <p:ext uri="{BB962C8B-B14F-4D97-AF65-F5344CB8AC3E}">
        <p14:creationId xmlns:p14="http://schemas.microsoft.com/office/powerpoint/2010/main" val="21011709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本アプリでは、旅行計画を他の人と安全に共有できるよう、</a:t>
            </a:r>
            <a:r>
              <a:rPr lang="ja-JP" altLang="en-US" b="0" dirty="0">
                <a:effectLst/>
              </a:rPr>
              <a:t>共有用パスワードと有効期限を設定</a:t>
            </a:r>
            <a:r>
              <a:rPr lang="ja-JP" altLang="en-US" dirty="0"/>
              <a:t>して、共有リンクを生成する仕組みを取り入れました。</a:t>
            </a:r>
            <a:endParaRPr lang="en-US" altLang="ja-JP" dirty="0"/>
          </a:p>
          <a:p>
            <a:r>
              <a:rPr lang="ja-JP" altLang="en-US" b="0" dirty="0"/>
              <a:t>リンクを受け取った相手は、</a:t>
            </a:r>
            <a:r>
              <a:rPr lang="ja-JP" altLang="en-US" b="0" dirty="0">
                <a:effectLst/>
              </a:rPr>
              <a:t>共有側が設定したパスワードを入力することで</a:t>
            </a:r>
            <a:r>
              <a:rPr lang="ja-JP" altLang="en-US" b="0" dirty="0"/>
              <a:t>、旅行の詳細情報を閲覧することができます。</a:t>
            </a:r>
            <a:endParaRPr lang="en-US" altLang="ja-JP" b="0" dirty="0"/>
          </a:p>
          <a:p>
            <a:r>
              <a:rPr lang="ja-JP" altLang="en-US" b="0" dirty="0"/>
              <a:t>さらに、旅行作成者が内容を変更した場合でも、</a:t>
            </a:r>
            <a:r>
              <a:rPr lang="ja-JP" altLang="en-US" b="0" dirty="0">
                <a:effectLst/>
              </a:rPr>
              <a:t>リンクの有効期限内であれば常に最新の情報が反映される</a:t>
            </a:r>
            <a:r>
              <a:rPr lang="ja-JP" altLang="en-US" b="0" dirty="0"/>
              <a:t>ようになっています。 </a:t>
            </a:r>
            <a:endParaRPr lang="en-US" altLang="ja-JP" b="0" dirty="0"/>
          </a:p>
          <a:p>
            <a:r>
              <a:rPr lang="ja-JP" altLang="en-US" b="0" dirty="0"/>
              <a:t>これにより、家族や友人とリアルタイムで旅行計画を共有でき、情報の行き違いを防ぐことができます。</a:t>
            </a:r>
            <a:endParaRPr kumimoji="1" lang="ja-JP" altLang="en-US" b="0" dirty="0"/>
          </a:p>
        </p:txBody>
      </p:sp>
      <p:sp>
        <p:nvSpPr>
          <p:cNvPr id="4" name="スライド番号プレースホルダー 3"/>
          <p:cNvSpPr>
            <a:spLocks noGrp="1"/>
          </p:cNvSpPr>
          <p:nvPr>
            <p:ph type="sldNum" sz="quarter" idx="5"/>
          </p:nvPr>
        </p:nvSpPr>
        <p:spPr/>
        <p:txBody>
          <a:bodyPr/>
          <a:lstStyle/>
          <a:p>
            <a:fld id="{091E0134-A0D1-45BA-A7E7-F8CF222E6417}" type="slidenum">
              <a:rPr kumimoji="1" lang="ja-JP" altLang="en-US" smtClean="0"/>
              <a:t>6</a:t>
            </a:fld>
            <a:endParaRPr kumimoji="1" lang="ja-JP" altLang="en-US"/>
          </a:p>
        </p:txBody>
      </p:sp>
    </p:spTree>
    <p:extLst>
      <p:ext uri="{BB962C8B-B14F-4D97-AF65-F5344CB8AC3E}">
        <p14:creationId xmlns:p14="http://schemas.microsoft.com/office/powerpoint/2010/main" val="13485298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さらに、旅行準備を効率化するために実装したチェックリスト機能も実装しました。 </a:t>
            </a:r>
            <a:endParaRPr lang="en-US" altLang="ja-JP" dirty="0"/>
          </a:p>
          <a:p>
            <a:r>
              <a:rPr lang="ja-JP" altLang="en-US" dirty="0"/>
              <a:t>上の図のように、自分自身がいつも旅行先に持っていくものをデフォルトのチェックリスト設定入力しておくことで、各旅行先の持ち物にもコピーされ、毎回の入力の手間を省くことができます。 </a:t>
            </a:r>
            <a:endParaRPr lang="en-US" altLang="ja-JP" dirty="0"/>
          </a:p>
          <a:p>
            <a:r>
              <a:rPr lang="ja-JP" altLang="en-US" dirty="0"/>
              <a:t>しかし、旅行先や季節によって必要な持ち物が変わるため、旅行ごとにもチェックリストを自由に編集できるようにしました。 </a:t>
            </a:r>
            <a:endParaRPr lang="en-US" altLang="ja-JP" dirty="0"/>
          </a:p>
          <a:p>
            <a:r>
              <a:rPr lang="ja-JP" altLang="en-US" dirty="0"/>
              <a:t>クリックを行うとチェック状況は保存され、下の図のように準備状況が一目でわかるようになっています。 </a:t>
            </a:r>
            <a:endParaRPr lang="en-US" altLang="ja-JP" dirty="0"/>
          </a:p>
          <a:p>
            <a:r>
              <a:rPr lang="ja-JP" altLang="en-US" dirty="0"/>
              <a:t>これにより、ユーザーは迷わず、効率的に準備を進められるようになりました</a:t>
            </a:r>
            <a:endParaRPr kumimoji="1" lang="ja-JP" altLang="en-US" dirty="0"/>
          </a:p>
        </p:txBody>
      </p:sp>
      <p:sp>
        <p:nvSpPr>
          <p:cNvPr id="4" name="スライド番号プレースホルダー 3"/>
          <p:cNvSpPr>
            <a:spLocks noGrp="1"/>
          </p:cNvSpPr>
          <p:nvPr>
            <p:ph type="sldNum" sz="quarter" idx="5"/>
          </p:nvPr>
        </p:nvSpPr>
        <p:spPr/>
        <p:txBody>
          <a:bodyPr/>
          <a:lstStyle/>
          <a:p>
            <a:fld id="{091E0134-A0D1-45BA-A7E7-F8CF222E6417}" type="slidenum">
              <a:rPr kumimoji="1" lang="ja-JP" altLang="en-US" smtClean="0"/>
              <a:t>7</a:t>
            </a:fld>
            <a:endParaRPr kumimoji="1" lang="ja-JP" altLang="en-US"/>
          </a:p>
        </p:txBody>
      </p:sp>
    </p:spTree>
    <p:extLst>
      <p:ext uri="{BB962C8B-B14F-4D97-AF65-F5344CB8AC3E}">
        <p14:creationId xmlns:p14="http://schemas.microsoft.com/office/powerpoint/2010/main" val="15492788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CCAB6ED-3D49-E9EB-9718-9748B629D386}"/>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6AEFD9E-8BFF-A502-81FE-CAA7F7BEED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968DA668-49C2-220A-688F-E10BF4AE9766}"/>
              </a:ext>
            </a:extLst>
          </p:cNvPr>
          <p:cNvSpPr>
            <a:spLocks noGrp="1"/>
          </p:cNvSpPr>
          <p:nvPr>
            <p:ph type="dt" sz="half" idx="10"/>
          </p:nvPr>
        </p:nvSpPr>
        <p:spPr/>
        <p:txBody>
          <a:bodyPr/>
          <a:lstStyle/>
          <a:p>
            <a:fld id="{02624D2A-0E4D-43B2-850D-28BC4303C5D8}" type="datetimeFigureOut">
              <a:rPr kumimoji="1" lang="ja-JP" altLang="en-US" smtClean="0"/>
              <a:t>2026/2/10</a:t>
            </a:fld>
            <a:endParaRPr kumimoji="1" lang="ja-JP" altLang="en-US"/>
          </a:p>
        </p:txBody>
      </p:sp>
      <p:sp>
        <p:nvSpPr>
          <p:cNvPr id="5" name="フッター プレースホルダー 4">
            <a:extLst>
              <a:ext uri="{FF2B5EF4-FFF2-40B4-BE49-F238E27FC236}">
                <a16:creationId xmlns:a16="http://schemas.microsoft.com/office/drawing/2014/main" id="{910ABE0C-AAC1-B532-722C-601E23F4740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FA13A76-A2CE-5A8D-3C7D-64F1D73F7F35}"/>
              </a:ext>
            </a:extLst>
          </p:cNvPr>
          <p:cNvSpPr>
            <a:spLocks noGrp="1"/>
          </p:cNvSpPr>
          <p:nvPr>
            <p:ph type="sldNum" sz="quarter" idx="12"/>
          </p:nvPr>
        </p:nvSpPr>
        <p:spPr/>
        <p:txBody>
          <a:bodyPr/>
          <a:lstStyle/>
          <a:p>
            <a:fld id="{C6309878-6D24-4D70-BFF3-5AFC9F28F968}" type="slidenum">
              <a:rPr kumimoji="1" lang="ja-JP" altLang="en-US" smtClean="0"/>
              <a:t>‹#›</a:t>
            </a:fld>
            <a:endParaRPr kumimoji="1" lang="ja-JP" altLang="en-US"/>
          </a:p>
        </p:txBody>
      </p:sp>
    </p:spTree>
    <p:extLst>
      <p:ext uri="{BB962C8B-B14F-4D97-AF65-F5344CB8AC3E}">
        <p14:creationId xmlns:p14="http://schemas.microsoft.com/office/powerpoint/2010/main" val="17270154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9EAFE32-1242-3D27-FAEE-5A83A8196F5F}"/>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8D16B7A-9F69-E88D-A917-F9B61FB24516}"/>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2EF8F80-925F-8C06-0C83-D34844DAE127}"/>
              </a:ext>
            </a:extLst>
          </p:cNvPr>
          <p:cNvSpPr>
            <a:spLocks noGrp="1"/>
          </p:cNvSpPr>
          <p:nvPr>
            <p:ph type="dt" sz="half" idx="10"/>
          </p:nvPr>
        </p:nvSpPr>
        <p:spPr/>
        <p:txBody>
          <a:bodyPr/>
          <a:lstStyle/>
          <a:p>
            <a:fld id="{02624D2A-0E4D-43B2-850D-28BC4303C5D8}" type="datetimeFigureOut">
              <a:rPr kumimoji="1" lang="ja-JP" altLang="en-US" smtClean="0"/>
              <a:t>2026/2/10</a:t>
            </a:fld>
            <a:endParaRPr kumimoji="1" lang="ja-JP" altLang="en-US"/>
          </a:p>
        </p:txBody>
      </p:sp>
      <p:sp>
        <p:nvSpPr>
          <p:cNvPr id="5" name="フッター プレースホルダー 4">
            <a:extLst>
              <a:ext uri="{FF2B5EF4-FFF2-40B4-BE49-F238E27FC236}">
                <a16:creationId xmlns:a16="http://schemas.microsoft.com/office/drawing/2014/main" id="{D2B03F83-230F-323A-C98E-144E6889848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07CB1F0-F25A-73C9-9061-090245124130}"/>
              </a:ext>
            </a:extLst>
          </p:cNvPr>
          <p:cNvSpPr>
            <a:spLocks noGrp="1"/>
          </p:cNvSpPr>
          <p:nvPr>
            <p:ph type="sldNum" sz="quarter" idx="12"/>
          </p:nvPr>
        </p:nvSpPr>
        <p:spPr/>
        <p:txBody>
          <a:bodyPr/>
          <a:lstStyle/>
          <a:p>
            <a:fld id="{C6309878-6D24-4D70-BFF3-5AFC9F28F968}" type="slidenum">
              <a:rPr kumimoji="1" lang="ja-JP" altLang="en-US" smtClean="0"/>
              <a:t>‹#›</a:t>
            </a:fld>
            <a:endParaRPr kumimoji="1" lang="ja-JP" altLang="en-US"/>
          </a:p>
        </p:txBody>
      </p:sp>
    </p:spTree>
    <p:extLst>
      <p:ext uri="{BB962C8B-B14F-4D97-AF65-F5344CB8AC3E}">
        <p14:creationId xmlns:p14="http://schemas.microsoft.com/office/powerpoint/2010/main" val="1443310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8FF6E94-7F90-24C9-5357-CFB9C1003F6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C898CDC-CDA6-EAEE-882B-CD7ADAE9FB5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4EE6F0E9-2F23-6B3C-BCCA-CFF4DC400A96}"/>
              </a:ext>
            </a:extLst>
          </p:cNvPr>
          <p:cNvSpPr>
            <a:spLocks noGrp="1"/>
          </p:cNvSpPr>
          <p:nvPr>
            <p:ph type="dt" sz="half" idx="10"/>
          </p:nvPr>
        </p:nvSpPr>
        <p:spPr/>
        <p:txBody>
          <a:bodyPr/>
          <a:lstStyle/>
          <a:p>
            <a:fld id="{02624D2A-0E4D-43B2-850D-28BC4303C5D8}" type="datetimeFigureOut">
              <a:rPr kumimoji="1" lang="ja-JP" altLang="en-US" smtClean="0"/>
              <a:t>2026/2/10</a:t>
            </a:fld>
            <a:endParaRPr kumimoji="1" lang="ja-JP" altLang="en-US"/>
          </a:p>
        </p:txBody>
      </p:sp>
      <p:sp>
        <p:nvSpPr>
          <p:cNvPr id="5" name="フッター プレースホルダー 4">
            <a:extLst>
              <a:ext uri="{FF2B5EF4-FFF2-40B4-BE49-F238E27FC236}">
                <a16:creationId xmlns:a16="http://schemas.microsoft.com/office/drawing/2014/main" id="{EE2F0D2C-D7AE-4CAD-5DDA-70F6069F2D9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C26BAD0-1821-214A-D7B3-7F10F512E4C6}"/>
              </a:ext>
            </a:extLst>
          </p:cNvPr>
          <p:cNvSpPr>
            <a:spLocks noGrp="1"/>
          </p:cNvSpPr>
          <p:nvPr>
            <p:ph type="sldNum" sz="quarter" idx="12"/>
          </p:nvPr>
        </p:nvSpPr>
        <p:spPr/>
        <p:txBody>
          <a:bodyPr/>
          <a:lstStyle/>
          <a:p>
            <a:fld id="{C6309878-6D24-4D70-BFF3-5AFC9F28F968}" type="slidenum">
              <a:rPr kumimoji="1" lang="ja-JP" altLang="en-US" smtClean="0"/>
              <a:t>‹#›</a:t>
            </a:fld>
            <a:endParaRPr kumimoji="1" lang="ja-JP" altLang="en-US"/>
          </a:p>
        </p:txBody>
      </p:sp>
    </p:spTree>
    <p:extLst>
      <p:ext uri="{BB962C8B-B14F-4D97-AF65-F5344CB8AC3E}">
        <p14:creationId xmlns:p14="http://schemas.microsoft.com/office/powerpoint/2010/main" val="8820552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C2E189B-36CE-1258-A1B2-406BAEBA7829}"/>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3650558-A06E-CBC2-8774-1BB5F9C2AED2}"/>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8104E747-7049-C68F-D70B-54A85F7FBD9E}"/>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765D7545-3CE1-144C-97F3-11B9E867A2F7}"/>
              </a:ext>
            </a:extLst>
          </p:cNvPr>
          <p:cNvSpPr>
            <a:spLocks noGrp="1"/>
          </p:cNvSpPr>
          <p:nvPr>
            <p:ph type="dt" sz="half" idx="10"/>
          </p:nvPr>
        </p:nvSpPr>
        <p:spPr/>
        <p:txBody>
          <a:bodyPr/>
          <a:lstStyle/>
          <a:p>
            <a:fld id="{02624D2A-0E4D-43B2-850D-28BC4303C5D8}" type="datetimeFigureOut">
              <a:rPr kumimoji="1" lang="ja-JP" altLang="en-US" smtClean="0"/>
              <a:t>2026/2/10</a:t>
            </a:fld>
            <a:endParaRPr kumimoji="1" lang="ja-JP" altLang="en-US"/>
          </a:p>
        </p:txBody>
      </p:sp>
      <p:sp>
        <p:nvSpPr>
          <p:cNvPr id="6" name="フッター プレースホルダー 5">
            <a:extLst>
              <a:ext uri="{FF2B5EF4-FFF2-40B4-BE49-F238E27FC236}">
                <a16:creationId xmlns:a16="http://schemas.microsoft.com/office/drawing/2014/main" id="{F9CAECCB-3639-F460-2F23-318DBA0DCE3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3D24971-B3BA-1354-6D3E-C85572AB4A54}"/>
              </a:ext>
            </a:extLst>
          </p:cNvPr>
          <p:cNvSpPr>
            <a:spLocks noGrp="1"/>
          </p:cNvSpPr>
          <p:nvPr>
            <p:ph type="sldNum" sz="quarter" idx="12"/>
          </p:nvPr>
        </p:nvSpPr>
        <p:spPr/>
        <p:txBody>
          <a:bodyPr/>
          <a:lstStyle/>
          <a:p>
            <a:fld id="{C6309878-6D24-4D70-BFF3-5AFC9F28F968}" type="slidenum">
              <a:rPr kumimoji="1" lang="ja-JP" altLang="en-US" smtClean="0"/>
              <a:t>‹#›</a:t>
            </a:fld>
            <a:endParaRPr kumimoji="1" lang="ja-JP" altLang="en-US"/>
          </a:p>
        </p:txBody>
      </p:sp>
    </p:spTree>
    <p:extLst>
      <p:ext uri="{BB962C8B-B14F-4D97-AF65-F5344CB8AC3E}">
        <p14:creationId xmlns:p14="http://schemas.microsoft.com/office/powerpoint/2010/main" val="42638154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AA7B574-7228-55DE-213B-70A2DE00C271}"/>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6E4A03C-49E6-BF63-74CC-7183BF9D56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D7AC681A-9181-03A6-7E37-7BCC2171679D}"/>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623233AC-101A-D9B4-2049-36A70731F65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80737B7-3EAD-6B7C-E7CB-22283D612672}"/>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3B69AD4-02BD-B9CE-2D83-9D0FE9C6E42F}"/>
              </a:ext>
            </a:extLst>
          </p:cNvPr>
          <p:cNvSpPr>
            <a:spLocks noGrp="1"/>
          </p:cNvSpPr>
          <p:nvPr>
            <p:ph type="dt" sz="half" idx="10"/>
          </p:nvPr>
        </p:nvSpPr>
        <p:spPr/>
        <p:txBody>
          <a:bodyPr/>
          <a:lstStyle/>
          <a:p>
            <a:fld id="{02624D2A-0E4D-43B2-850D-28BC4303C5D8}" type="datetimeFigureOut">
              <a:rPr kumimoji="1" lang="ja-JP" altLang="en-US" smtClean="0"/>
              <a:t>2026/2/10</a:t>
            </a:fld>
            <a:endParaRPr kumimoji="1" lang="ja-JP" altLang="en-US"/>
          </a:p>
        </p:txBody>
      </p:sp>
      <p:sp>
        <p:nvSpPr>
          <p:cNvPr id="8" name="フッター プレースホルダー 7">
            <a:extLst>
              <a:ext uri="{FF2B5EF4-FFF2-40B4-BE49-F238E27FC236}">
                <a16:creationId xmlns:a16="http://schemas.microsoft.com/office/drawing/2014/main" id="{106A5F88-DCC1-04AD-C59A-822C1345FE63}"/>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DC2034CF-585E-4CA0-58BC-B011D3BD1874}"/>
              </a:ext>
            </a:extLst>
          </p:cNvPr>
          <p:cNvSpPr>
            <a:spLocks noGrp="1"/>
          </p:cNvSpPr>
          <p:nvPr>
            <p:ph type="sldNum" sz="quarter" idx="12"/>
          </p:nvPr>
        </p:nvSpPr>
        <p:spPr/>
        <p:txBody>
          <a:bodyPr/>
          <a:lstStyle/>
          <a:p>
            <a:fld id="{C6309878-6D24-4D70-BFF3-5AFC9F28F968}" type="slidenum">
              <a:rPr kumimoji="1" lang="ja-JP" altLang="en-US" smtClean="0"/>
              <a:t>‹#›</a:t>
            </a:fld>
            <a:endParaRPr kumimoji="1" lang="ja-JP" altLang="en-US"/>
          </a:p>
        </p:txBody>
      </p:sp>
    </p:spTree>
    <p:extLst>
      <p:ext uri="{BB962C8B-B14F-4D97-AF65-F5344CB8AC3E}">
        <p14:creationId xmlns:p14="http://schemas.microsoft.com/office/powerpoint/2010/main" val="36212030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33B2C49-A19D-DBC3-5260-DD3D5730D29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F480805-F437-8C5F-8760-F469FD2502B8}"/>
              </a:ext>
            </a:extLst>
          </p:cNvPr>
          <p:cNvSpPr>
            <a:spLocks noGrp="1"/>
          </p:cNvSpPr>
          <p:nvPr>
            <p:ph type="dt" sz="half" idx="10"/>
          </p:nvPr>
        </p:nvSpPr>
        <p:spPr/>
        <p:txBody>
          <a:bodyPr/>
          <a:lstStyle/>
          <a:p>
            <a:fld id="{02624D2A-0E4D-43B2-850D-28BC4303C5D8}" type="datetimeFigureOut">
              <a:rPr kumimoji="1" lang="ja-JP" altLang="en-US" smtClean="0"/>
              <a:t>2026/2/10</a:t>
            </a:fld>
            <a:endParaRPr kumimoji="1" lang="ja-JP" altLang="en-US"/>
          </a:p>
        </p:txBody>
      </p:sp>
      <p:sp>
        <p:nvSpPr>
          <p:cNvPr id="4" name="フッター プレースホルダー 3">
            <a:extLst>
              <a:ext uri="{FF2B5EF4-FFF2-40B4-BE49-F238E27FC236}">
                <a16:creationId xmlns:a16="http://schemas.microsoft.com/office/drawing/2014/main" id="{EA9A42A1-2836-D718-2BBE-4C7B3EC43CA3}"/>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B4736262-4F12-C271-26E3-D6DE9EA8A95C}"/>
              </a:ext>
            </a:extLst>
          </p:cNvPr>
          <p:cNvSpPr>
            <a:spLocks noGrp="1"/>
          </p:cNvSpPr>
          <p:nvPr>
            <p:ph type="sldNum" sz="quarter" idx="12"/>
          </p:nvPr>
        </p:nvSpPr>
        <p:spPr/>
        <p:txBody>
          <a:bodyPr/>
          <a:lstStyle/>
          <a:p>
            <a:fld id="{C6309878-6D24-4D70-BFF3-5AFC9F28F968}" type="slidenum">
              <a:rPr kumimoji="1" lang="ja-JP" altLang="en-US" smtClean="0"/>
              <a:t>‹#›</a:t>
            </a:fld>
            <a:endParaRPr kumimoji="1" lang="ja-JP" altLang="en-US"/>
          </a:p>
        </p:txBody>
      </p:sp>
    </p:spTree>
    <p:extLst>
      <p:ext uri="{BB962C8B-B14F-4D97-AF65-F5344CB8AC3E}">
        <p14:creationId xmlns:p14="http://schemas.microsoft.com/office/powerpoint/2010/main" val="29855642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C8A8B5F0-7C8A-496E-C688-E0AF8343F2E7}"/>
              </a:ext>
            </a:extLst>
          </p:cNvPr>
          <p:cNvSpPr>
            <a:spLocks noGrp="1"/>
          </p:cNvSpPr>
          <p:nvPr>
            <p:ph type="dt" sz="half" idx="10"/>
          </p:nvPr>
        </p:nvSpPr>
        <p:spPr/>
        <p:txBody>
          <a:bodyPr/>
          <a:lstStyle/>
          <a:p>
            <a:fld id="{02624D2A-0E4D-43B2-850D-28BC4303C5D8}" type="datetimeFigureOut">
              <a:rPr kumimoji="1" lang="ja-JP" altLang="en-US" smtClean="0"/>
              <a:t>2026/2/10</a:t>
            </a:fld>
            <a:endParaRPr kumimoji="1" lang="ja-JP" altLang="en-US"/>
          </a:p>
        </p:txBody>
      </p:sp>
      <p:sp>
        <p:nvSpPr>
          <p:cNvPr id="3" name="フッター プレースホルダー 2">
            <a:extLst>
              <a:ext uri="{FF2B5EF4-FFF2-40B4-BE49-F238E27FC236}">
                <a16:creationId xmlns:a16="http://schemas.microsoft.com/office/drawing/2014/main" id="{75B9D9F9-EEA8-FD94-A1FC-BDBB0AE973AD}"/>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373A67D-8950-CC68-2626-8B1A1C6E4221}"/>
              </a:ext>
            </a:extLst>
          </p:cNvPr>
          <p:cNvSpPr>
            <a:spLocks noGrp="1"/>
          </p:cNvSpPr>
          <p:nvPr>
            <p:ph type="sldNum" sz="quarter" idx="12"/>
          </p:nvPr>
        </p:nvSpPr>
        <p:spPr/>
        <p:txBody>
          <a:bodyPr/>
          <a:lstStyle/>
          <a:p>
            <a:fld id="{C6309878-6D24-4D70-BFF3-5AFC9F28F968}" type="slidenum">
              <a:rPr kumimoji="1" lang="ja-JP" altLang="en-US" smtClean="0"/>
              <a:t>‹#›</a:t>
            </a:fld>
            <a:endParaRPr kumimoji="1" lang="ja-JP" altLang="en-US"/>
          </a:p>
        </p:txBody>
      </p:sp>
    </p:spTree>
    <p:extLst>
      <p:ext uri="{BB962C8B-B14F-4D97-AF65-F5344CB8AC3E}">
        <p14:creationId xmlns:p14="http://schemas.microsoft.com/office/powerpoint/2010/main" val="1100445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C875CE-F77B-49B6-048B-46EA8837F4AB}"/>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112AD57-6A56-B1CF-3D37-0CAB984AA0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1B491B93-D91A-DAE4-7D35-E398ADB5B5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B69D9EE-5DC9-7F21-5A63-A7D6AA468886}"/>
              </a:ext>
            </a:extLst>
          </p:cNvPr>
          <p:cNvSpPr>
            <a:spLocks noGrp="1"/>
          </p:cNvSpPr>
          <p:nvPr>
            <p:ph type="dt" sz="half" idx="10"/>
          </p:nvPr>
        </p:nvSpPr>
        <p:spPr/>
        <p:txBody>
          <a:bodyPr/>
          <a:lstStyle/>
          <a:p>
            <a:fld id="{02624D2A-0E4D-43B2-850D-28BC4303C5D8}" type="datetimeFigureOut">
              <a:rPr kumimoji="1" lang="ja-JP" altLang="en-US" smtClean="0"/>
              <a:t>2026/2/10</a:t>
            </a:fld>
            <a:endParaRPr kumimoji="1" lang="ja-JP" altLang="en-US"/>
          </a:p>
        </p:txBody>
      </p:sp>
      <p:sp>
        <p:nvSpPr>
          <p:cNvPr id="6" name="フッター プレースホルダー 5">
            <a:extLst>
              <a:ext uri="{FF2B5EF4-FFF2-40B4-BE49-F238E27FC236}">
                <a16:creationId xmlns:a16="http://schemas.microsoft.com/office/drawing/2014/main" id="{ADB26F46-1D52-A609-9CB0-3D78A06873A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23C2907-C410-308A-BFB2-C6A5618ED523}"/>
              </a:ext>
            </a:extLst>
          </p:cNvPr>
          <p:cNvSpPr>
            <a:spLocks noGrp="1"/>
          </p:cNvSpPr>
          <p:nvPr>
            <p:ph type="sldNum" sz="quarter" idx="12"/>
          </p:nvPr>
        </p:nvSpPr>
        <p:spPr/>
        <p:txBody>
          <a:bodyPr/>
          <a:lstStyle/>
          <a:p>
            <a:fld id="{C6309878-6D24-4D70-BFF3-5AFC9F28F968}" type="slidenum">
              <a:rPr kumimoji="1" lang="ja-JP" altLang="en-US" smtClean="0"/>
              <a:t>‹#›</a:t>
            </a:fld>
            <a:endParaRPr kumimoji="1" lang="ja-JP" altLang="en-US"/>
          </a:p>
        </p:txBody>
      </p:sp>
    </p:spTree>
    <p:extLst>
      <p:ext uri="{BB962C8B-B14F-4D97-AF65-F5344CB8AC3E}">
        <p14:creationId xmlns:p14="http://schemas.microsoft.com/office/powerpoint/2010/main" val="2855072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73EBA03-0E67-D34C-30CC-540B17C757E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224DF0BF-ACE8-7789-DC1D-7ECA22BEEF0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9BDBF047-7D8B-4C66-683A-C0030E8E04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C2BD443-09BA-7C36-45B3-346EBC8F29E8}"/>
              </a:ext>
            </a:extLst>
          </p:cNvPr>
          <p:cNvSpPr>
            <a:spLocks noGrp="1"/>
          </p:cNvSpPr>
          <p:nvPr>
            <p:ph type="dt" sz="half" idx="10"/>
          </p:nvPr>
        </p:nvSpPr>
        <p:spPr/>
        <p:txBody>
          <a:bodyPr/>
          <a:lstStyle/>
          <a:p>
            <a:fld id="{02624D2A-0E4D-43B2-850D-28BC4303C5D8}" type="datetimeFigureOut">
              <a:rPr kumimoji="1" lang="ja-JP" altLang="en-US" smtClean="0"/>
              <a:t>2026/2/10</a:t>
            </a:fld>
            <a:endParaRPr kumimoji="1" lang="ja-JP" altLang="en-US"/>
          </a:p>
        </p:txBody>
      </p:sp>
      <p:sp>
        <p:nvSpPr>
          <p:cNvPr id="6" name="フッター プレースホルダー 5">
            <a:extLst>
              <a:ext uri="{FF2B5EF4-FFF2-40B4-BE49-F238E27FC236}">
                <a16:creationId xmlns:a16="http://schemas.microsoft.com/office/drawing/2014/main" id="{0A65D462-BC7B-60D6-A7FC-EF8330408B3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679736B-6888-FA29-35EC-E5D72F3DE7C9}"/>
              </a:ext>
            </a:extLst>
          </p:cNvPr>
          <p:cNvSpPr>
            <a:spLocks noGrp="1"/>
          </p:cNvSpPr>
          <p:nvPr>
            <p:ph type="sldNum" sz="quarter" idx="12"/>
          </p:nvPr>
        </p:nvSpPr>
        <p:spPr/>
        <p:txBody>
          <a:bodyPr/>
          <a:lstStyle/>
          <a:p>
            <a:fld id="{C6309878-6D24-4D70-BFF3-5AFC9F28F968}" type="slidenum">
              <a:rPr kumimoji="1" lang="ja-JP" altLang="en-US" smtClean="0"/>
              <a:t>‹#›</a:t>
            </a:fld>
            <a:endParaRPr kumimoji="1" lang="ja-JP" altLang="en-US"/>
          </a:p>
        </p:txBody>
      </p:sp>
    </p:spTree>
    <p:extLst>
      <p:ext uri="{BB962C8B-B14F-4D97-AF65-F5344CB8AC3E}">
        <p14:creationId xmlns:p14="http://schemas.microsoft.com/office/powerpoint/2010/main" val="595848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9572301-0263-8312-A08A-738A3697D461}"/>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90AFB7E-C055-81B9-C635-343F4C276717}"/>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9E69191-869F-2586-C3DD-1FB98F3DFF34}"/>
              </a:ext>
            </a:extLst>
          </p:cNvPr>
          <p:cNvSpPr>
            <a:spLocks noGrp="1"/>
          </p:cNvSpPr>
          <p:nvPr>
            <p:ph type="dt" sz="half" idx="10"/>
          </p:nvPr>
        </p:nvSpPr>
        <p:spPr/>
        <p:txBody>
          <a:bodyPr/>
          <a:lstStyle/>
          <a:p>
            <a:fld id="{02624D2A-0E4D-43B2-850D-28BC4303C5D8}" type="datetimeFigureOut">
              <a:rPr kumimoji="1" lang="ja-JP" altLang="en-US" smtClean="0"/>
              <a:t>2026/2/10</a:t>
            </a:fld>
            <a:endParaRPr kumimoji="1" lang="ja-JP" altLang="en-US"/>
          </a:p>
        </p:txBody>
      </p:sp>
      <p:sp>
        <p:nvSpPr>
          <p:cNvPr id="5" name="フッター プレースホルダー 4">
            <a:extLst>
              <a:ext uri="{FF2B5EF4-FFF2-40B4-BE49-F238E27FC236}">
                <a16:creationId xmlns:a16="http://schemas.microsoft.com/office/drawing/2014/main" id="{0B926EFC-F8F7-5925-ED82-BF4A90CE8D0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1CCE3DF-7847-5C9B-A11E-8D623EF28F09}"/>
              </a:ext>
            </a:extLst>
          </p:cNvPr>
          <p:cNvSpPr>
            <a:spLocks noGrp="1"/>
          </p:cNvSpPr>
          <p:nvPr>
            <p:ph type="sldNum" sz="quarter" idx="12"/>
          </p:nvPr>
        </p:nvSpPr>
        <p:spPr/>
        <p:txBody>
          <a:bodyPr/>
          <a:lstStyle/>
          <a:p>
            <a:fld id="{C6309878-6D24-4D70-BFF3-5AFC9F28F968}" type="slidenum">
              <a:rPr kumimoji="1" lang="ja-JP" altLang="en-US" smtClean="0"/>
              <a:t>‹#›</a:t>
            </a:fld>
            <a:endParaRPr kumimoji="1" lang="ja-JP" altLang="en-US"/>
          </a:p>
        </p:txBody>
      </p:sp>
    </p:spTree>
    <p:extLst>
      <p:ext uri="{BB962C8B-B14F-4D97-AF65-F5344CB8AC3E}">
        <p14:creationId xmlns:p14="http://schemas.microsoft.com/office/powerpoint/2010/main" val="36863875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8AD971ED-3DC1-0D27-A367-EB5CD4F98440}"/>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079A581-9E80-9726-0939-DFD173D7E318}"/>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E55BA64-B776-FD5D-E3A5-7C0495F4EB1F}"/>
              </a:ext>
            </a:extLst>
          </p:cNvPr>
          <p:cNvSpPr>
            <a:spLocks noGrp="1"/>
          </p:cNvSpPr>
          <p:nvPr>
            <p:ph type="dt" sz="half" idx="10"/>
          </p:nvPr>
        </p:nvSpPr>
        <p:spPr/>
        <p:txBody>
          <a:bodyPr/>
          <a:lstStyle/>
          <a:p>
            <a:fld id="{02624D2A-0E4D-43B2-850D-28BC4303C5D8}" type="datetimeFigureOut">
              <a:rPr kumimoji="1" lang="ja-JP" altLang="en-US" smtClean="0"/>
              <a:t>2026/2/10</a:t>
            </a:fld>
            <a:endParaRPr kumimoji="1" lang="ja-JP" altLang="en-US"/>
          </a:p>
        </p:txBody>
      </p:sp>
      <p:sp>
        <p:nvSpPr>
          <p:cNvPr id="5" name="フッター プレースホルダー 4">
            <a:extLst>
              <a:ext uri="{FF2B5EF4-FFF2-40B4-BE49-F238E27FC236}">
                <a16:creationId xmlns:a16="http://schemas.microsoft.com/office/drawing/2014/main" id="{C36213DE-EE9D-2F72-BDEF-9FDD01C5C7B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0DCFA9A-B975-16C7-DD47-393E81CDB20D}"/>
              </a:ext>
            </a:extLst>
          </p:cNvPr>
          <p:cNvSpPr>
            <a:spLocks noGrp="1"/>
          </p:cNvSpPr>
          <p:nvPr>
            <p:ph type="sldNum" sz="quarter" idx="12"/>
          </p:nvPr>
        </p:nvSpPr>
        <p:spPr/>
        <p:txBody>
          <a:bodyPr/>
          <a:lstStyle/>
          <a:p>
            <a:fld id="{C6309878-6D24-4D70-BFF3-5AFC9F28F968}" type="slidenum">
              <a:rPr kumimoji="1" lang="ja-JP" altLang="en-US" smtClean="0"/>
              <a:t>‹#›</a:t>
            </a:fld>
            <a:endParaRPr kumimoji="1" lang="ja-JP" altLang="en-US"/>
          </a:p>
        </p:txBody>
      </p:sp>
    </p:spTree>
    <p:extLst>
      <p:ext uri="{BB962C8B-B14F-4D97-AF65-F5344CB8AC3E}">
        <p14:creationId xmlns:p14="http://schemas.microsoft.com/office/powerpoint/2010/main" val="16329929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5C68367A-09F8-6AAE-DD9A-B071E7D2D0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FD39FE5-607F-0C19-F829-92413CF481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971BE34-F08C-4CF2-C61E-01C83B757E4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624D2A-0E4D-43B2-850D-28BC4303C5D8}" type="datetimeFigureOut">
              <a:rPr kumimoji="1" lang="ja-JP" altLang="en-US" smtClean="0"/>
              <a:t>2026/2/10</a:t>
            </a:fld>
            <a:endParaRPr kumimoji="1" lang="ja-JP" altLang="en-US"/>
          </a:p>
        </p:txBody>
      </p:sp>
      <p:sp>
        <p:nvSpPr>
          <p:cNvPr id="5" name="フッター プレースホルダー 4">
            <a:extLst>
              <a:ext uri="{FF2B5EF4-FFF2-40B4-BE49-F238E27FC236}">
                <a16:creationId xmlns:a16="http://schemas.microsoft.com/office/drawing/2014/main" id="{C1A2CC04-C84C-BF8C-A02D-964C968B693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17FCD39E-8BCA-CF08-71B3-A4210983AC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309878-6D24-4D70-BFF3-5AFC9F28F968}" type="slidenum">
              <a:rPr kumimoji="1" lang="ja-JP" altLang="en-US" smtClean="0"/>
              <a:t>‹#›</a:t>
            </a:fld>
            <a:endParaRPr kumimoji="1" lang="ja-JP" altLang="en-US"/>
          </a:p>
        </p:txBody>
      </p:sp>
    </p:spTree>
    <p:extLst>
      <p:ext uri="{BB962C8B-B14F-4D97-AF65-F5344CB8AC3E}">
        <p14:creationId xmlns:p14="http://schemas.microsoft.com/office/powerpoint/2010/main" val="6334891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emf"/></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hyperlink" Target="https://www.djangoproject.com/" TargetMode="External"/><Relationship Id="rId2" Type="http://schemas.openxmlformats.org/officeDocument/2006/relationships/hyperlink" Target="https://tabisio.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4CFD4E0-3953-D2E6-760E-6B1E4C30BB21}"/>
              </a:ext>
            </a:extLst>
          </p:cNvPr>
          <p:cNvSpPr>
            <a:spLocks noGrp="1"/>
          </p:cNvSpPr>
          <p:nvPr>
            <p:ph type="ctrTitle"/>
          </p:nvPr>
        </p:nvSpPr>
        <p:spPr>
          <a:xfrm>
            <a:off x="1524000" y="1854200"/>
            <a:ext cx="9144000" cy="1014413"/>
          </a:xfrm>
        </p:spPr>
        <p:txBody>
          <a:bodyPr>
            <a:noAutofit/>
          </a:bodyPr>
          <a:lstStyle/>
          <a:p>
            <a:pPr>
              <a:lnSpc>
                <a:spcPts val="10500"/>
              </a:lnSpc>
            </a:pPr>
            <a:r>
              <a:rPr lang="ja-JP" altLang="en-US" sz="4800" dirty="0"/>
              <a:t>デジタル版しおりアプリの開発</a:t>
            </a:r>
            <a:endParaRPr lang="en-US" altLang="ja-JP" sz="4800" b="1" spc="1125" dirty="0">
              <a:solidFill>
                <a:srgbClr val="242424"/>
              </a:solidFill>
              <a:latin typeface="Noto Sans JP Bold"/>
              <a:ea typeface="Noto Sans JP Bold"/>
              <a:cs typeface="Noto Sans JP Bold"/>
              <a:sym typeface="Noto Sans JP Bold"/>
            </a:endParaRPr>
          </a:p>
        </p:txBody>
      </p:sp>
      <p:sp>
        <p:nvSpPr>
          <p:cNvPr id="3" name="字幕 2">
            <a:extLst>
              <a:ext uri="{FF2B5EF4-FFF2-40B4-BE49-F238E27FC236}">
                <a16:creationId xmlns:a16="http://schemas.microsoft.com/office/drawing/2014/main" id="{36989B93-FDE5-945A-04BA-3F7B5E7175E3}"/>
              </a:ext>
            </a:extLst>
          </p:cNvPr>
          <p:cNvSpPr>
            <a:spLocks noGrp="1"/>
          </p:cNvSpPr>
          <p:nvPr>
            <p:ph type="subTitle" idx="1"/>
          </p:nvPr>
        </p:nvSpPr>
        <p:spPr/>
        <p:txBody>
          <a:bodyPr/>
          <a:lstStyle/>
          <a:p>
            <a:r>
              <a:rPr kumimoji="1" lang="en-US" altLang="ja-JP" dirty="0"/>
              <a:t>2026</a:t>
            </a:r>
            <a:r>
              <a:rPr kumimoji="1" lang="ja-JP" altLang="en-US" dirty="0"/>
              <a:t>年</a:t>
            </a:r>
            <a:r>
              <a:rPr kumimoji="1" lang="en-US" altLang="ja-JP" dirty="0"/>
              <a:t>2</a:t>
            </a:r>
            <a:r>
              <a:rPr kumimoji="1" lang="ja-JP" altLang="en-US" dirty="0"/>
              <a:t>月</a:t>
            </a:r>
            <a:r>
              <a:rPr kumimoji="1" lang="en-US" altLang="ja-JP" dirty="0"/>
              <a:t>16</a:t>
            </a:r>
            <a:r>
              <a:rPr kumimoji="1" lang="ja-JP" altLang="en-US" dirty="0"/>
              <a:t>日</a:t>
            </a:r>
            <a:endParaRPr kumimoji="1" lang="en-US" altLang="ja-JP" dirty="0"/>
          </a:p>
          <a:p>
            <a:r>
              <a:rPr lang="ja-JP" altLang="en-US" dirty="0"/>
              <a:t>関西学院大学　工学部　情報工学課程</a:t>
            </a:r>
            <a:endParaRPr lang="en-US" altLang="ja-JP" dirty="0"/>
          </a:p>
          <a:p>
            <a:r>
              <a:rPr kumimoji="1" lang="en-US" altLang="ja-JP" dirty="0"/>
              <a:t>37022463 </a:t>
            </a:r>
            <a:r>
              <a:rPr kumimoji="1" lang="ja-JP" altLang="en-US" dirty="0"/>
              <a:t>山本　果音</a:t>
            </a:r>
            <a:endParaRPr kumimoji="1" lang="en-US" altLang="ja-JP" dirty="0"/>
          </a:p>
        </p:txBody>
      </p:sp>
    </p:spTree>
    <p:extLst>
      <p:ext uri="{BB962C8B-B14F-4D97-AF65-F5344CB8AC3E}">
        <p14:creationId xmlns:p14="http://schemas.microsoft.com/office/powerpoint/2010/main" val="5190794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3A834EA2-8868-882A-840F-97557239AEF0}"/>
              </a:ext>
            </a:extLst>
          </p:cNvPr>
          <p:cNvPicPr>
            <a:picLocks noChangeAspect="1"/>
          </p:cNvPicPr>
          <p:nvPr/>
        </p:nvPicPr>
        <p:blipFill>
          <a:blip r:embed="rId3"/>
          <a:stretch>
            <a:fillRect/>
          </a:stretch>
        </p:blipFill>
        <p:spPr>
          <a:xfrm>
            <a:off x="3995258" y="1447115"/>
            <a:ext cx="3462818" cy="1432065"/>
          </a:xfrm>
          <a:prstGeom prst="rect">
            <a:avLst/>
          </a:prstGeom>
        </p:spPr>
      </p:pic>
      <p:sp>
        <p:nvSpPr>
          <p:cNvPr id="4" name="テキスト ボックス 3">
            <a:extLst>
              <a:ext uri="{FF2B5EF4-FFF2-40B4-BE49-F238E27FC236}">
                <a16:creationId xmlns:a16="http://schemas.microsoft.com/office/drawing/2014/main" id="{FDCEA1A9-13B4-6897-FAC4-FD760C2AB8C0}"/>
              </a:ext>
            </a:extLst>
          </p:cNvPr>
          <p:cNvSpPr txBox="1"/>
          <p:nvPr/>
        </p:nvSpPr>
        <p:spPr>
          <a:xfrm>
            <a:off x="533400" y="222826"/>
            <a:ext cx="2209800" cy="584775"/>
          </a:xfrm>
          <a:prstGeom prst="rect">
            <a:avLst/>
          </a:prstGeom>
          <a:noFill/>
        </p:spPr>
        <p:txBody>
          <a:bodyPr wrap="square" rtlCol="0">
            <a:spAutoFit/>
          </a:bodyPr>
          <a:lstStyle/>
          <a:p>
            <a:r>
              <a:rPr lang="ja-JP" altLang="en-US" sz="3200" dirty="0"/>
              <a:t>研究背景</a:t>
            </a:r>
            <a:endParaRPr kumimoji="1" lang="ja-JP" altLang="en-US" sz="3200" dirty="0"/>
          </a:p>
        </p:txBody>
      </p:sp>
      <p:sp>
        <p:nvSpPr>
          <p:cNvPr id="5" name="テキスト ボックス 4">
            <a:extLst>
              <a:ext uri="{FF2B5EF4-FFF2-40B4-BE49-F238E27FC236}">
                <a16:creationId xmlns:a16="http://schemas.microsoft.com/office/drawing/2014/main" id="{B5E4BB7C-678E-90D9-F041-9DDD1EBDD5D1}"/>
              </a:ext>
            </a:extLst>
          </p:cNvPr>
          <p:cNvSpPr txBox="1"/>
          <p:nvPr/>
        </p:nvSpPr>
        <p:spPr>
          <a:xfrm>
            <a:off x="733425" y="1078130"/>
            <a:ext cx="10420350" cy="646331"/>
          </a:xfrm>
          <a:prstGeom prst="rect">
            <a:avLst/>
          </a:prstGeom>
          <a:noFill/>
        </p:spPr>
        <p:txBody>
          <a:bodyPr wrap="square" rtlCol="0">
            <a:spAutoFit/>
          </a:bodyPr>
          <a:lstStyle/>
          <a:p>
            <a:r>
              <a:rPr lang="ja-JP" altLang="en-US" dirty="0">
                <a:latin typeface="HaranoAjiMincho-Regular-Identity-H"/>
              </a:rPr>
              <a:t>しおり・・・旅程の把握や所持品の確認</a:t>
            </a:r>
            <a:r>
              <a:rPr lang="ja-JP" altLang="en-US" dirty="0">
                <a:latin typeface="CMR10"/>
              </a:rPr>
              <a:t>、</a:t>
            </a:r>
            <a:r>
              <a:rPr lang="ja-JP" altLang="en-US" dirty="0">
                <a:latin typeface="HaranoAjiMincho-Regular-Identity-H"/>
              </a:rPr>
              <a:t>集合時間の共有などを目的とした重要な情報媒体</a:t>
            </a:r>
            <a:endParaRPr lang="ja-JP" altLang="en-US" dirty="0"/>
          </a:p>
          <a:p>
            <a:endParaRPr kumimoji="1" lang="ja-JP" altLang="en-US" dirty="0"/>
          </a:p>
        </p:txBody>
      </p:sp>
      <p:sp>
        <p:nvSpPr>
          <p:cNvPr id="9" name="テキスト ボックス 8">
            <a:extLst>
              <a:ext uri="{FF2B5EF4-FFF2-40B4-BE49-F238E27FC236}">
                <a16:creationId xmlns:a16="http://schemas.microsoft.com/office/drawing/2014/main" id="{A73CA76E-4D70-CD2C-2495-65D895A34F31}"/>
              </a:ext>
            </a:extLst>
          </p:cNvPr>
          <p:cNvSpPr txBox="1"/>
          <p:nvPr/>
        </p:nvSpPr>
        <p:spPr>
          <a:xfrm>
            <a:off x="733425" y="2856478"/>
            <a:ext cx="6096000" cy="400110"/>
          </a:xfrm>
          <a:prstGeom prst="rect">
            <a:avLst/>
          </a:prstGeom>
          <a:noFill/>
        </p:spPr>
        <p:txBody>
          <a:bodyPr wrap="square">
            <a:spAutoFit/>
          </a:bodyPr>
          <a:lstStyle/>
          <a:p>
            <a:r>
              <a:rPr lang="ja-JP" altLang="en-US" sz="2000" u="sng" dirty="0"/>
              <a:t>旅しお</a:t>
            </a:r>
            <a:r>
              <a:rPr kumimoji="1" lang="ja-JP" altLang="en-US" sz="2000" u="sng" dirty="0"/>
              <a:t>での旅行計画のデメリット</a:t>
            </a:r>
          </a:p>
        </p:txBody>
      </p:sp>
      <p:sp>
        <p:nvSpPr>
          <p:cNvPr id="10" name="テキスト ボックス 9">
            <a:extLst>
              <a:ext uri="{FF2B5EF4-FFF2-40B4-BE49-F238E27FC236}">
                <a16:creationId xmlns:a16="http://schemas.microsoft.com/office/drawing/2014/main" id="{501223EC-ECBE-CB06-68EF-52F3F0DC7826}"/>
              </a:ext>
            </a:extLst>
          </p:cNvPr>
          <p:cNvSpPr txBox="1"/>
          <p:nvPr/>
        </p:nvSpPr>
        <p:spPr>
          <a:xfrm>
            <a:off x="628650" y="3371850"/>
            <a:ext cx="10420350" cy="2031325"/>
          </a:xfrm>
          <a:prstGeom prst="rect">
            <a:avLst/>
          </a:prstGeom>
          <a:noFill/>
        </p:spPr>
        <p:txBody>
          <a:bodyPr wrap="square" rtlCol="0">
            <a:spAutoFit/>
          </a:bodyPr>
          <a:lstStyle/>
          <a:p>
            <a:r>
              <a:rPr lang="ja-JP" altLang="en-US" dirty="0"/>
              <a:t>①</a:t>
            </a:r>
            <a:r>
              <a:rPr lang="en-US" altLang="ja-JP" dirty="0"/>
              <a:t> </a:t>
            </a:r>
            <a:r>
              <a:rPr lang="ja-JP" altLang="en-US" dirty="0"/>
              <a:t>旅行名や説明文に対するキーワード検索機能が存在しないため</a:t>
            </a:r>
            <a:r>
              <a:rPr lang="en-US" altLang="ja-JP" dirty="0"/>
              <a:t>, </a:t>
            </a:r>
          </a:p>
          <a:p>
            <a:r>
              <a:rPr lang="ja-JP" altLang="en-US" dirty="0"/>
              <a:t>スクロール操作によって目的のしおりを探す必要がある</a:t>
            </a:r>
            <a:endParaRPr lang="en-US" altLang="ja-JP" dirty="0"/>
          </a:p>
          <a:p>
            <a:endParaRPr lang="en-US" altLang="ja-JP" dirty="0"/>
          </a:p>
          <a:p>
            <a:r>
              <a:rPr lang="ja-JP" altLang="en-US" dirty="0"/>
              <a:t>②地図表示機能がないため</a:t>
            </a:r>
            <a:r>
              <a:rPr lang="en-US" altLang="ja-JP" dirty="0"/>
              <a:t>, </a:t>
            </a:r>
            <a:r>
              <a:rPr lang="ja-JP" altLang="en-US" dirty="0"/>
              <a:t>目的地の位置関係や全体像を視覚的に理解するこ</a:t>
            </a:r>
          </a:p>
          <a:p>
            <a:r>
              <a:rPr lang="ja-JP" altLang="en-US" dirty="0"/>
              <a:t>とが難しく</a:t>
            </a:r>
            <a:r>
              <a:rPr lang="en-US" altLang="ja-JP" dirty="0"/>
              <a:t>, </a:t>
            </a:r>
            <a:r>
              <a:rPr lang="ja-JP" altLang="en-US" dirty="0"/>
              <a:t>利用者は外部ツールや手作業で補完しなければならない</a:t>
            </a:r>
            <a:endParaRPr lang="en-US" altLang="ja-JP" dirty="0"/>
          </a:p>
          <a:p>
            <a:endParaRPr lang="en-US" altLang="ja-JP" dirty="0"/>
          </a:p>
          <a:p>
            <a:r>
              <a:rPr lang="ja-JP" altLang="en-US" dirty="0"/>
              <a:t>③</a:t>
            </a:r>
            <a:r>
              <a:rPr lang="en-US" altLang="ja-JP" dirty="0"/>
              <a:t> </a:t>
            </a:r>
            <a:r>
              <a:rPr lang="ja-JP" altLang="en-US" dirty="0"/>
              <a:t>移動時間の自動算出機能が存在しないため</a:t>
            </a:r>
            <a:r>
              <a:rPr lang="en-US" altLang="ja-JP" dirty="0"/>
              <a:t>, </a:t>
            </a:r>
            <a:r>
              <a:rPr lang="ja-JP" altLang="en-US" dirty="0"/>
              <a:t>各目的地間の所要時間を手動で調べる必要がある</a:t>
            </a:r>
            <a:endParaRPr kumimoji="1" lang="ja-JP" altLang="en-US" dirty="0"/>
          </a:p>
        </p:txBody>
      </p:sp>
      <p:sp>
        <p:nvSpPr>
          <p:cNvPr id="11" name="テキスト ボックス 10">
            <a:extLst>
              <a:ext uri="{FF2B5EF4-FFF2-40B4-BE49-F238E27FC236}">
                <a16:creationId xmlns:a16="http://schemas.microsoft.com/office/drawing/2014/main" id="{CC19E381-05FC-48B3-70EA-897E44EC0857}"/>
              </a:ext>
            </a:extLst>
          </p:cNvPr>
          <p:cNvSpPr txBox="1"/>
          <p:nvPr/>
        </p:nvSpPr>
        <p:spPr>
          <a:xfrm>
            <a:off x="2562225" y="5934670"/>
            <a:ext cx="9391650" cy="923330"/>
          </a:xfrm>
          <a:prstGeom prst="rect">
            <a:avLst/>
          </a:prstGeom>
          <a:noFill/>
        </p:spPr>
        <p:txBody>
          <a:bodyPr wrap="square" rtlCol="0">
            <a:spAutoFit/>
          </a:bodyPr>
          <a:lstStyle/>
          <a:p>
            <a:r>
              <a:rPr lang="ja-JP" altLang="en-US" dirty="0">
                <a:solidFill>
                  <a:srgbClr val="FF0000"/>
                </a:solidFill>
              </a:rPr>
              <a:t>視覚的な理解と効率的に旅行計画を行える</a:t>
            </a:r>
            <a:endParaRPr lang="en-US" altLang="ja-JP" dirty="0">
              <a:solidFill>
                <a:srgbClr val="FF0000"/>
              </a:solidFill>
            </a:endParaRPr>
          </a:p>
          <a:p>
            <a:r>
              <a:rPr lang="ja-JP" altLang="en-US" dirty="0">
                <a:solidFill>
                  <a:srgbClr val="FF0000"/>
                </a:solidFill>
              </a:rPr>
              <a:t>「デジタル版しおり」として機能する旅行アプリの開発</a:t>
            </a:r>
          </a:p>
          <a:p>
            <a:endParaRPr kumimoji="1" lang="ja-JP" altLang="en-US" dirty="0"/>
          </a:p>
        </p:txBody>
      </p:sp>
      <p:cxnSp>
        <p:nvCxnSpPr>
          <p:cNvPr id="14" name="直線矢印コネクタ 13">
            <a:extLst>
              <a:ext uri="{FF2B5EF4-FFF2-40B4-BE49-F238E27FC236}">
                <a16:creationId xmlns:a16="http://schemas.microsoft.com/office/drawing/2014/main" id="{888CC924-775C-0A8C-3C6C-85AFFE853891}"/>
              </a:ext>
            </a:extLst>
          </p:cNvPr>
          <p:cNvCxnSpPr/>
          <p:nvPr/>
        </p:nvCxnSpPr>
        <p:spPr>
          <a:xfrm>
            <a:off x="5076825" y="5358447"/>
            <a:ext cx="0" cy="495895"/>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3" name="直線コネクタ 2">
            <a:extLst>
              <a:ext uri="{FF2B5EF4-FFF2-40B4-BE49-F238E27FC236}">
                <a16:creationId xmlns:a16="http://schemas.microsoft.com/office/drawing/2014/main" id="{0BD90132-D903-733D-C941-A77F286248BF}"/>
              </a:ext>
            </a:extLst>
          </p:cNvPr>
          <p:cNvCxnSpPr>
            <a:cxnSpLocks/>
          </p:cNvCxnSpPr>
          <p:nvPr/>
        </p:nvCxnSpPr>
        <p:spPr>
          <a:xfrm>
            <a:off x="0" y="908625"/>
            <a:ext cx="12192000" cy="0"/>
          </a:xfrm>
          <a:prstGeom prst="line">
            <a:avLst/>
          </a:prstGeom>
          <a:ln w="7620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99704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D2814-6939-6312-8E20-9EE73B8555C7}"/>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B569AB13-DC81-F305-F7D2-A27A9F105BB1}"/>
              </a:ext>
            </a:extLst>
          </p:cNvPr>
          <p:cNvSpPr txBox="1"/>
          <p:nvPr/>
        </p:nvSpPr>
        <p:spPr>
          <a:xfrm>
            <a:off x="781050" y="246549"/>
            <a:ext cx="3133726" cy="646331"/>
          </a:xfrm>
          <a:prstGeom prst="rect">
            <a:avLst/>
          </a:prstGeom>
          <a:noFill/>
        </p:spPr>
        <p:txBody>
          <a:bodyPr wrap="square" rtlCol="0">
            <a:spAutoFit/>
          </a:bodyPr>
          <a:lstStyle/>
          <a:p>
            <a:r>
              <a:rPr kumimoji="1" lang="ja-JP" altLang="en-US" sz="3600" dirty="0"/>
              <a:t>開発手法</a:t>
            </a:r>
          </a:p>
        </p:txBody>
      </p:sp>
      <p:sp>
        <p:nvSpPr>
          <p:cNvPr id="3" name="テキスト ボックス 2">
            <a:extLst>
              <a:ext uri="{FF2B5EF4-FFF2-40B4-BE49-F238E27FC236}">
                <a16:creationId xmlns:a16="http://schemas.microsoft.com/office/drawing/2014/main" id="{B4BE818E-1531-F377-31CD-6524E4033D3B}"/>
              </a:ext>
            </a:extLst>
          </p:cNvPr>
          <p:cNvSpPr txBox="1"/>
          <p:nvPr/>
        </p:nvSpPr>
        <p:spPr>
          <a:xfrm>
            <a:off x="707231" y="1932536"/>
            <a:ext cx="11029950" cy="646331"/>
          </a:xfrm>
          <a:prstGeom prst="rect">
            <a:avLst/>
          </a:prstGeom>
          <a:noFill/>
        </p:spPr>
        <p:txBody>
          <a:bodyPr wrap="square" rtlCol="0">
            <a:spAutoFit/>
          </a:bodyPr>
          <a:lstStyle/>
          <a:p>
            <a:r>
              <a:rPr lang="ja-JP" altLang="en-US" dirty="0"/>
              <a:t>機能ごとに優先順位を設定し</a:t>
            </a:r>
            <a:r>
              <a:rPr lang="en-US" altLang="ja-JP" dirty="0"/>
              <a:t>,</a:t>
            </a:r>
            <a:r>
              <a:rPr lang="ja-JP" altLang="en-US" dirty="0"/>
              <a:t>計画・設計・実装・テストの工程を小刻みに繰り返す</a:t>
            </a:r>
            <a:endParaRPr lang="en-US" altLang="ja-JP" dirty="0"/>
          </a:p>
          <a:p>
            <a:r>
              <a:rPr lang="ja-JP" altLang="en-US" dirty="0"/>
              <a:t>アジャイル開発手法を採用した</a:t>
            </a:r>
            <a:endParaRPr kumimoji="1" lang="ja-JP" altLang="en-US" dirty="0"/>
          </a:p>
        </p:txBody>
      </p:sp>
      <p:sp>
        <p:nvSpPr>
          <p:cNvPr id="4" name="テキスト ボックス 3">
            <a:extLst>
              <a:ext uri="{FF2B5EF4-FFF2-40B4-BE49-F238E27FC236}">
                <a16:creationId xmlns:a16="http://schemas.microsoft.com/office/drawing/2014/main" id="{20A10E4F-D528-AC99-151E-99CD348FFC15}"/>
              </a:ext>
            </a:extLst>
          </p:cNvPr>
          <p:cNvSpPr txBox="1"/>
          <p:nvPr/>
        </p:nvSpPr>
        <p:spPr>
          <a:xfrm>
            <a:off x="707231" y="1371421"/>
            <a:ext cx="4171950" cy="523220"/>
          </a:xfrm>
          <a:prstGeom prst="rect">
            <a:avLst/>
          </a:prstGeom>
          <a:noFill/>
        </p:spPr>
        <p:txBody>
          <a:bodyPr wrap="square" rtlCol="0">
            <a:spAutoFit/>
          </a:bodyPr>
          <a:lstStyle/>
          <a:p>
            <a:r>
              <a:rPr kumimoji="1" lang="ja-JP" altLang="en-US" sz="2800" dirty="0"/>
              <a:t>アジャイル開発手法</a:t>
            </a:r>
          </a:p>
        </p:txBody>
      </p:sp>
      <p:sp>
        <p:nvSpPr>
          <p:cNvPr id="5" name="テキスト ボックス 4">
            <a:extLst>
              <a:ext uri="{FF2B5EF4-FFF2-40B4-BE49-F238E27FC236}">
                <a16:creationId xmlns:a16="http://schemas.microsoft.com/office/drawing/2014/main" id="{AC003448-A1C6-E1A3-B0A2-9080BF4DD43A}"/>
              </a:ext>
            </a:extLst>
          </p:cNvPr>
          <p:cNvSpPr txBox="1"/>
          <p:nvPr/>
        </p:nvSpPr>
        <p:spPr>
          <a:xfrm>
            <a:off x="781050" y="5199159"/>
            <a:ext cx="2486026" cy="1077218"/>
          </a:xfrm>
          <a:prstGeom prst="rect">
            <a:avLst/>
          </a:prstGeom>
          <a:noFill/>
        </p:spPr>
        <p:txBody>
          <a:bodyPr wrap="square" rtlCol="0">
            <a:spAutoFit/>
          </a:bodyPr>
          <a:lstStyle/>
          <a:p>
            <a:r>
              <a:rPr lang="ja-JP" altLang="en-US" sz="2800" dirty="0"/>
              <a:t>開発環境</a:t>
            </a:r>
            <a:endParaRPr lang="en-US" altLang="ja-JP" sz="2800" dirty="0"/>
          </a:p>
          <a:p>
            <a:endParaRPr lang="ja-JP" altLang="en-US" dirty="0"/>
          </a:p>
          <a:p>
            <a:endParaRPr kumimoji="1" lang="ja-JP" altLang="en-US" dirty="0"/>
          </a:p>
        </p:txBody>
      </p:sp>
      <p:cxnSp>
        <p:nvCxnSpPr>
          <p:cNvPr id="10" name="直線コネクタ 9">
            <a:extLst>
              <a:ext uri="{FF2B5EF4-FFF2-40B4-BE49-F238E27FC236}">
                <a16:creationId xmlns:a16="http://schemas.microsoft.com/office/drawing/2014/main" id="{C86D27C9-43D7-CD69-1F35-E80C2C090E13}"/>
              </a:ext>
            </a:extLst>
          </p:cNvPr>
          <p:cNvCxnSpPr>
            <a:cxnSpLocks/>
          </p:cNvCxnSpPr>
          <p:nvPr/>
        </p:nvCxnSpPr>
        <p:spPr>
          <a:xfrm>
            <a:off x="0" y="965775"/>
            <a:ext cx="12192000" cy="0"/>
          </a:xfrm>
          <a:prstGeom prst="line">
            <a:avLst/>
          </a:prstGeom>
          <a:ln w="76200">
            <a:solidFill>
              <a:schemeClr val="accent5"/>
            </a:solidFill>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08450178-F0FA-B0EA-B32F-CF3D493F63A8}"/>
              </a:ext>
            </a:extLst>
          </p:cNvPr>
          <p:cNvSpPr txBox="1"/>
          <p:nvPr/>
        </p:nvSpPr>
        <p:spPr>
          <a:xfrm>
            <a:off x="2259807" y="5237054"/>
            <a:ext cx="3009900" cy="677108"/>
          </a:xfrm>
          <a:prstGeom prst="rect">
            <a:avLst/>
          </a:prstGeom>
          <a:noFill/>
        </p:spPr>
        <p:txBody>
          <a:bodyPr wrap="square" rtlCol="0">
            <a:spAutoFit/>
          </a:bodyPr>
          <a:lstStyle/>
          <a:p>
            <a:r>
              <a:rPr lang="ja-JP" altLang="en-US" sz="2000" dirty="0"/>
              <a:t>・・・　</a:t>
            </a:r>
            <a:r>
              <a:rPr lang="en-US" altLang="ja-JP" sz="2000" dirty="0"/>
              <a:t>Django</a:t>
            </a:r>
          </a:p>
          <a:p>
            <a:endParaRPr kumimoji="1" lang="ja-JP" altLang="en-US" dirty="0"/>
          </a:p>
        </p:txBody>
      </p:sp>
      <p:sp>
        <p:nvSpPr>
          <p:cNvPr id="9" name="矢印: 下 8">
            <a:extLst>
              <a:ext uri="{FF2B5EF4-FFF2-40B4-BE49-F238E27FC236}">
                <a16:creationId xmlns:a16="http://schemas.microsoft.com/office/drawing/2014/main" id="{8B3AB1B9-7562-EA5C-3D97-AF6DB24C8FBA}"/>
              </a:ext>
            </a:extLst>
          </p:cNvPr>
          <p:cNvSpPr/>
          <p:nvPr/>
        </p:nvSpPr>
        <p:spPr>
          <a:xfrm>
            <a:off x="4405313" y="2783713"/>
            <a:ext cx="747712" cy="67710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2" name="テキスト ボックス 11">
            <a:extLst>
              <a:ext uri="{FF2B5EF4-FFF2-40B4-BE49-F238E27FC236}">
                <a16:creationId xmlns:a16="http://schemas.microsoft.com/office/drawing/2014/main" id="{211E60C6-C3B1-5DDB-D9FF-5DAF19AC33A3}"/>
              </a:ext>
            </a:extLst>
          </p:cNvPr>
          <p:cNvSpPr txBox="1"/>
          <p:nvPr/>
        </p:nvSpPr>
        <p:spPr>
          <a:xfrm>
            <a:off x="781050" y="3868602"/>
            <a:ext cx="9067800" cy="646331"/>
          </a:xfrm>
          <a:prstGeom prst="rect">
            <a:avLst/>
          </a:prstGeom>
          <a:noFill/>
        </p:spPr>
        <p:txBody>
          <a:bodyPr wrap="square" rtlCol="0">
            <a:spAutoFit/>
          </a:bodyPr>
          <a:lstStyle/>
          <a:p>
            <a:r>
              <a:rPr lang="ja-JP" altLang="en-US" dirty="0"/>
              <a:t>開発途中でユーザーの要望や新しいアイデアが出てきても、すぐに変更できるため、効率的に成果を上げることができた</a:t>
            </a:r>
            <a:endParaRPr kumimoji="1" lang="ja-JP" altLang="en-US" dirty="0"/>
          </a:p>
        </p:txBody>
      </p:sp>
    </p:spTree>
    <p:extLst>
      <p:ext uri="{BB962C8B-B14F-4D97-AF65-F5344CB8AC3E}">
        <p14:creationId xmlns:p14="http://schemas.microsoft.com/office/powerpoint/2010/main" val="12427903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B7F02-4A27-ACE5-02C7-3290A9E25466}"/>
            </a:ext>
          </a:extLst>
        </p:cNvPr>
        <p:cNvGrpSpPr/>
        <p:nvPr/>
      </p:nvGrpSpPr>
      <p:grpSpPr>
        <a:xfrm>
          <a:off x="0" y="0"/>
          <a:ext cx="0" cy="0"/>
          <a:chOff x="0" y="0"/>
          <a:chExt cx="0" cy="0"/>
        </a:xfrm>
      </p:grpSpPr>
      <p:pic>
        <p:nvPicPr>
          <p:cNvPr id="23" name="図 22">
            <a:extLst>
              <a:ext uri="{FF2B5EF4-FFF2-40B4-BE49-F238E27FC236}">
                <a16:creationId xmlns:a16="http://schemas.microsoft.com/office/drawing/2014/main" id="{C1FB4787-2DAB-4AAA-3F1B-92E1FD800D60}"/>
              </a:ext>
            </a:extLst>
          </p:cNvPr>
          <p:cNvPicPr>
            <a:picLocks noChangeAspect="1"/>
          </p:cNvPicPr>
          <p:nvPr/>
        </p:nvPicPr>
        <p:blipFill>
          <a:blip r:embed="rId3"/>
          <a:stretch>
            <a:fillRect/>
          </a:stretch>
        </p:blipFill>
        <p:spPr>
          <a:xfrm>
            <a:off x="487083" y="3903432"/>
            <a:ext cx="4500831" cy="2531718"/>
          </a:xfrm>
          <a:prstGeom prst="rect">
            <a:avLst/>
          </a:prstGeom>
        </p:spPr>
      </p:pic>
      <p:pic>
        <p:nvPicPr>
          <p:cNvPr id="6" name="図 5">
            <a:extLst>
              <a:ext uri="{FF2B5EF4-FFF2-40B4-BE49-F238E27FC236}">
                <a16:creationId xmlns:a16="http://schemas.microsoft.com/office/drawing/2014/main" id="{D7DB0040-D323-8091-4E53-03D0456D9314}"/>
              </a:ext>
            </a:extLst>
          </p:cNvPr>
          <p:cNvPicPr>
            <a:picLocks noChangeAspect="1"/>
          </p:cNvPicPr>
          <p:nvPr/>
        </p:nvPicPr>
        <p:blipFill>
          <a:blip r:embed="rId4"/>
          <a:srcRect l="8588" r="17763" b="10799"/>
          <a:stretch>
            <a:fillRect/>
          </a:stretch>
        </p:blipFill>
        <p:spPr>
          <a:xfrm>
            <a:off x="999986" y="1501025"/>
            <a:ext cx="3475560" cy="2271237"/>
          </a:xfrm>
          <a:prstGeom prst="rect">
            <a:avLst/>
          </a:prstGeom>
        </p:spPr>
      </p:pic>
      <p:pic>
        <p:nvPicPr>
          <p:cNvPr id="4" name="図 3">
            <a:extLst>
              <a:ext uri="{FF2B5EF4-FFF2-40B4-BE49-F238E27FC236}">
                <a16:creationId xmlns:a16="http://schemas.microsoft.com/office/drawing/2014/main" id="{B5736CE1-B7B6-F27D-975B-3B65A31FFA21}"/>
              </a:ext>
            </a:extLst>
          </p:cNvPr>
          <p:cNvPicPr>
            <a:picLocks noChangeAspect="1"/>
          </p:cNvPicPr>
          <p:nvPr/>
        </p:nvPicPr>
        <p:blipFill>
          <a:blip r:embed="rId5"/>
          <a:srcRect t="16189" b="17964"/>
          <a:stretch>
            <a:fillRect/>
          </a:stretch>
        </p:blipFill>
        <p:spPr>
          <a:xfrm>
            <a:off x="6524914" y="1769391"/>
            <a:ext cx="4854169" cy="1793038"/>
          </a:xfrm>
          <a:prstGeom prst="rect">
            <a:avLst/>
          </a:prstGeom>
        </p:spPr>
      </p:pic>
      <p:sp>
        <p:nvSpPr>
          <p:cNvPr id="2" name="テキスト ボックス 1">
            <a:extLst>
              <a:ext uri="{FF2B5EF4-FFF2-40B4-BE49-F238E27FC236}">
                <a16:creationId xmlns:a16="http://schemas.microsoft.com/office/drawing/2014/main" id="{6AB964BD-8D22-BF40-E5EC-A70D6E44C3D3}"/>
              </a:ext>
            </a:extLst>
          </p:cNvPr>
          <p:cNvSpPr txBox="1"/>
          <p:nvPr/>
        </p:nvSpPr>
        <p:spPr>
          <a:xfrm>
            <a:off x="342899" y="203245"/>
            <a:ext cx="7315201" cy="584775"/>
          </a:xfrm>
          <a:prstGeom prst="rect">
            <a:avLst/>
          </a:prstGeom>
          <a:noFill/>
        </p:spPr>
        <p:txBody>
          <a:bodyPr wrap="square" rtlCol="0">
            <a:spAutoFit/>
          </a:bodyPr>
          <a:lstStyle/>
          <a:p>
            <a:r>
              <a:rPr lang="ja-JP" altLang="en-US" sz="3200" dirty="0"/>
              <a:t>本アプリの基本的な利用の流れ</a:t>
            </a:r>
            <a:endParaRPr kumimoji="1" lang="ja-JP" altLang="en-US" sz="3200" dirty="0"/>
          </a:p>
        </p:txBody>
      </p:sp>
      <p:sp>
        <p:nvSpPr>
          <p:cNvPr id="8" name="テキスト ボックス 7">
            <a:extLst>
              <a:ext uri="{FF2B5EF4-FFF2-40B4-BE49-F238E27FC236}">
                <a16:creationId xmlns:a16="http://schemas.microsoft.com/office/drawing/2014/main" id="{C35E456A-15E6-C873-7460-259FCCBD1EB4}"/>
              </a:ext>
            </a:extLst>
          </p:cNvPr>
          <p:cNvSpPr txBox="1"/>
          <p:nvPr/>
        </p:nvSpPr>
        <p:spPr>
          <a:xfrm>
            <a:off x="647700" y="1013400"/>
            <a:ext cx="7219950" cy="400110"/>
          </a:xfrm>
          <a:prstGeom prst="rect">
            <a:avLst/>
          </a:prstGeom>
          <a:noFill/>
        </p:spPr>
        <p:txBody>
          <a:bodyPr wrap="square" rtlCol="0">
            <a:spAutoFit/>
          </a:bodyPr>
          <a:lstStyle/>
          <a:p>
            <a:r>
              <a:rPr kumimoji="1" lang="ja-JP" altLang="en-US" sz="2000" dirty="0"/>
              <a:t>旅行画面を表示する</a:t>
            </a:r>
            <a:r>
              <a:rPr lang="ja-JP" altLang="en-US" sz="2000" dirty="0"/>
              <a:t>に</a:t>
            </a:r>
            <a:r>
              <a:rPr kumimoji="1" lang="ja-JP" altLang="en-US" sz="2000" dirty="0"/>
              <a:t>はログイン</a:t>
            </a:r>
            <a:r>
              <a:rPr lang="ja-JP" altLang="en-US" sz="2000" dirty="0"/>
              <a:t>を行う必要がある</a:t>
            </a:r>
            <a:endParaRPr kumimoji="1" lang="en-US" altLang="ja-JP" sz="2000" dirty="0"/>
          </a:p>
        </p:txBody>
      </p:sp>
      <p:cxnSp>
        <p:nvCxnSpPr>
          <p:cNvPr id="11" name="直線矢印コネクタ 10">
            <a:extLst>
              <a:ext uri="{FF2B5EF4-FFF2-40B4-BE49-F238E27FC236}">
                <a16:creationId xmlns:a16="http://schemas.microsoft.com/office/drawing/2014/main" id="{551D1829-77C7-7288-339C-4CB84F7BA438}"/>
              </a:ext>
            </a:extLst>
          </p:cNvPr>
          <p:cNvCxnSpPr>
            <a:cxnSpLocks/>
          </p:cNvCxnSpPr>
          <p:nvPr/>
        </p:nvCxnSpPr>
        <p:spPr>
          <a:xfrm>
            <a:off x="5058815" y="2657829"/>
            <a:ext cx="1171575" cy="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pic>
        <p:nvPicPr>
          <p:cNvPr id="25" name="図 24">
            <a:extLst>
              <a:ext uri="{FF2B5EF4-FFF2-40B4-BE49-F238E27FC236}">
                <a16:creationId xmlns:a16="http://schemas.microsoft.com/office/drawing/2014/main" id="{7661D6B0-682B-650B-A3E3-F3AEFF03AA12}"/>
              </a:ext>
            </a:extLst>
          </p:cNvPr>
          <p:cNvPicPr>
            <a:picLocks noChangeAspect="1"/>
          </p:cNvPicPr>
          <p:nvPr/>
        </p:nvPicPr>
        <p:blipFill>
          <a:blip r:embed="rId6"/>
          <a:srcRect r="21037"/>
          <a:stretch>
            <a:fillRect/>
          </a:stretch>
        </p:blipFill>
        <p:spPr>
          <a:xfrm>
            <a:off x="7408313" y="3772262"/>
            <a:ext cx="3383505" cy="2410259"/>
          </a:xfrm>
          <a:prstGeom prst="rect">
            <a:avLst/>
          </a:prstGeom>
        </p:spPr>
      </p:pic>
      <p:cxnSp>
        <p:nvCxnSpPr>
          <p:cNvPr id="27" name="直線矢印コネクタ 26">
            <a:extLst>
              <a:ext uri="{FF2B5EF4-FFF2-40B4-BE49-F238E27FC236}">
                <a16:creationId xmlns:a16="http://schemas.microsoft.com/office/drawing/2014/main" id="{05B076A1-011F-A7E3-EC2D-CBCA34855781}"/>
              </a:ext>
            </a:extLst>
          </p:cNvPr>
          <p:cNvCxnSpPr>
            <a:cxnSpLocks/>
          </p:cNvCxnSpPr>
          <p:nvPr/>
        </p:nvCxnSpPr>
        <p:spPr>
          <a:xfrm flipH="1">
            <a:off x="5213155" y="5169291"/>
            <a:ext cx="1038224" cy="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3" name="直線コネクタ 2">
            <a:extLst>
              <a:ext uri="{FF2B5EF4-FFF2-40B4-BE49-F238E27FC236}">
                <a16:creationId xmlns:a16="http://schemas.microsoft.com/office/drawing/2014/main" id="{0B02DAB2-2D0A-0C10-18B2-868A613DCC65}"/>
              </a:ext>
            </a:extLst>
          </p:cNvPr>
          <p:cNvCxnSpPr>
            <a:cxnSpLocks/>
          </p:cNvCxnSpPr>
          <p:nvPr/>
        </p:nvCxnSpPr>
        <p:spPr>
          <a:xfrm>
            <a:off x="0" y="889575"/>
            <a:ext cx="12192000" cy="0"/>
          </a:xfrm>
          <a:prstGeom prst="line">
            <a:avLst/>
          </a:prstGeom>
          <a:ln w="76200">
            <a:solidFill>
              <a:schemeClr val="accent5"/>
            </a:solidFill>
          </a:ln>
        </p:spPr>
        <p:style>
          <a:lnRef idx="1">
            <a:schemeClr val="accent1"/>
          </a:lnRef>
          <a:fillRef idx="0">
            <a:schemeClr val="accent1"/>
          </a:fillRef>
          <a:effectRef idx="0">
            <a:schemeClr val="accent1"/>
          </a:effectRef>
          <a:fontRef idx="minor">
            <a:schemeClr val="tx1"/>
          </a:fontRef>
        </p:style>
      </p:cxnSp>
      <p:pic>
        <p:nvPicPr>
          <p:cNvPr id="12" name="図 11">
            <a:extLst>
              <a:ext uri="{FF2B5EF4-FFF2-40B4-BE49-F238E27FC236}">
                <a16:creationId xmlns:a16="http://schemas.microsoft.com/office/drawing/2014/main" id="{7BDC834A-7656-4236-CFEA-FDA5B0DD089D}"/>
              </a:ext>
            </a:extLst>
          </p:cNvPr>
          <p:cNvPicPr>
            <a:picLocks noChangeAspect="1"/>
          </p:cNvPicPr>
          <p:nvPr/>
        </p:nvPicPr>
        <p:blipFill>
          <a:blip r:embed="rId7"/>
          <a:stretch>
            <a:fillRect/>
          </a:stretch>
        </p:blipFill>
        <p:spPr>
          <a:xfrm>
            <a:off x="6701861" y="4248477"/>
            <a:ext cx="5405896" cy="1977193"/>
          </a:xfrm>
          <a:prstGeom prst="rect">
            <a:avLst/>
          </a:prstGeom>
        </p:spPr>
      </p:pic>
      <p:cxnSp>
        <p:nvCxnSpPr>
          <p:cNvPr id="26" name="直線矢印コネクタ 25">
            <a:extLst>
              <a:ext uri="{FF2B5EF4-FFF2-40B4-BE49-F238E27FC236}">
                <a16:creationId xmlns:a16="http://schemas.microsoft.com/office/drawing/2014/main" id="{1CCC7562-7835-514A-4D67-FCCF3C8448B9}"/>
              </a:ext>
            </a:extLst>
          </p:cNvPr>
          <p:cNvCxnSpPr>
            <a:cxnSpLocks/>
          </p:cNvCxnSpPr>
          <p:nvPr/>
        </p:nvCxnSpPr>
        <p:spPr>
          <a:xfrm>
            <a:off x="8847224" y="3772262"/>
            <a:ext cx="0" cy="778266"/>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755077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33FBC-D900-B0F0-A49A-3B843E333F50}"/>
            </a:ext>
          </a:extLst>
        </p:cNvPr>
        <p:cNvGrpSpPr/>
        <p:nvPr/>
      </p:nvGrpSpPr>
      <p:grpSpPr>
        <a:xfrm>
          <a:off x="0" y="0"/>
          <a:ext cx="0" cy="0"/>
          <a:chOff x="0" y="0"/>
          <a:chExt cx="0" cy="0"/>
        </a:xfrm>
      </p:grpSpPr>
      <p:sp>
        <p:nvSpPr>
          <p:cNvPr id="32" name="テキスト ボックス 31">
            <a:extLst>
              <a:ext uri="{FF2B5EF4-FFF2-40B4-BE49-F238E27FC236}">
                <a16:creationId xmlns:a16="http://schemas.microsoft.com/office/drawing/2014/main" id="{A7FDCAB3-5B26-EEAE-073B-887F1D513961}"/>
              </a:ext>
            </a:extLst>
          </p:cNvPr>
          <p:cNvSpPr txBox="1"/>
          <p:nvPr/>
        </p:nvSpPr>
        <p:spPr>
          <a:xfrm>
            <a:off x="5535018" y="1213619"/>
            <a:ext cx="6115040" cy="369332"/>
          </a:xfrm>
          <a:prstGeom prst="rect">
            <a:avLst/>
          </a:prstGeom>
          <a:solidFill>
            <a:schemeClr val="accent1">
              <a:lumMod val="20000"/>
              <a:lumOff val="80000"/>
            </a:schemeClr>
          </a:solidFill>
        </p:spPr>
        <p:txBody>
          <a:bodyPr wrap="square" rtlCol="0">
            <a:spAutoFit/>
          </a:bodyPr>
          <a:lstStyle/>
          <a:p>
            <a:endParaRPr kumimoji="1" lang="ja-JP" altLang="en-US" dirty="0"/>
          </a:p>
        </p:txBody>
      </p:sp>
      <p:sp>
        <p:nvSpPr>
          <p:cNvPr id="10" name="テキスト ボックス 9">
            <a:extLst>
              <a:ext uri="{FF2B5EF4-FFF2-40B4-BE49-F238E27FC236}">
                <a16:creationId xmlns:a16="http://schemas.microsoft.com/office/drawing/2014/main" id="{BC5A6197-ECEC-4BE4-5D1A-705A85D77BBB}"/>
              </a:ext>
            </a:extLst>
          </p:cNvPr>
          <p:cNvSpPr txBox="1"/>
          <p:nvPr/>
        </p:nvSpPr>
        <p:spPr>
          <a:xfrm>
            <a:off x="5535018" y="1195467"/>
            <a:ext cx="6115050" cy="2585323"/>
          </a:xfrm>
          <a:prstGeom prst="rect">
            <a:avLst/>
          </a:prstGeom>
          <a:noFill/>
          <a:ln w="28575">
            <a:solidFill>
              <a:schemeClr val="accent1"/>
            </a:solidFill>
          </a:ln>
        </p:spPr>
        <p:txBody>
          <a:bodyPr wrap="square">
            <a:spAutoFit/>
          </a:bodyPr>
          <a:lstStyle/>
          <a:p>
            <a:r>
              <a:rPr lang="ja-JP" altLang="en-US" dirty="0"/>
              <a:t>           機能　　　　　　　　　　　使用技術</a:t>
            </a:r>
            <a:endParaRPr lang="en-US" altLang="ja-JP" dirty="0"/>
          </a:p>
          <a:p>
            <a:endParaRPr lang="en-US" altLang="ja-JP" dirty="0"/>
          </a:p>
          <a:p>
            <a:r>
              <a:rPr lang="ja-JP" altLang="en-US" dirty="0"/>
              <a:t>         地図表示</a:t>
            </a:r>
            <a:endParaRPr lang="en-US" altLang="ja-JP" dirty="0"/>
          </a:p>
          <a:p>
            <a:endParaRPr lang="en-US" altLang="ja-JP" dirty="0"/>
          </a:p>
          <a:p>
            <a:r>
              <a:rPr lang="ja-JP" altLang="en-US" dirty="0"/>
              <a:t>        観光地登録</a:t>
            </a:r>
            <a:endParaRPr lang="en-US" altLang="ja-JP" dirty="0"/>
          </a:p>
          <a:p>
            <a:endParaRPr lang="en-US" altLang="ja-JP" dirty="0"/>
          </a:p>
          <a:p>
            <a:r>
              <a:rPr lang="ja-JP" altLang="en-US" dirty="0"/>
              <a:t>   移動時間の自動算出</a:t>
            </a:r>
            <a:endParaRPr lang="en-US" altLang="ja-JP" dirty="0"/>
          </a:p>
          <a:p>
            <a:endParaRPr lang="en-US" altLang="ja-JP" dirty="0"/>
          </a:p>
          <a:p>
            <a:r>
              <a:rPr lang="ja-JP" altLang="en-US" dirty="0"/>
              <a:t>    訪問順序入れ替え</a:t>
            </a:r>
            <a:endParaRPr lang="en-US" altLang="ja-JP" dirty="0">
              <a:latin typeface="CMR12"/>
            </a:endParaRPr>
          </a:p>
        </p:txBody>
      </p:sp>
      <p:sp>
        <p:nvSpPr>
          <p:cNvPr id="4" name="テキスト ボックス 3">
            <a:extLst>
              <a:ext uri="{FF2B5EF4-FFF2-40B4-BE49-F238E27FC236}">
                <a16:creationId xmlns:a16="http://schemas.microsoft.com/office/drawing/2014/main" id="{B81D8629-8F8E-46FE-6318-1A421D546D51}"/>
              </a:ext>
            </a:extLst>
          </p:cNvPr>
          <p:cNvSpPr txBox="1"/>
          <p:nvPr/>
        </p:nvSpPr>
        <p:spPr>
          <a:xfrm>
            <a:off x="467360" y="255181"/>
            <a:ext cx="2631440" cy="584775"/>
          </a:xfrm>
          <a:prstGeom prst="rect">
            <a:avLst/>
          </a:prstGeom>
          <a:noFill/>
        </p:spPr>
        <p:txBody>
          <a:bodyPr wrap="square" rtlCol="0">
            <a:spAutoFit/>
          </a:bodyPr>
          <a:lstStyle/>
          <a:p>
            <a:r>
              <a:rPr kumimoji="1" lang="ja-JP" altLang="en-US" sz="3200" dirty="0"/>
              <a:t>旅行詳細画面</a:t>
            </a:r>
          </a:p>
        </p:txBody>
      </p:sp>
      <p:sp>
        <p:nvSpPr>
          <p:cNvPr id="5" name="テキスト ボックス 4">
            <a:extLst>
              <a:ext uri="{FF2B5EF4-FFF2-40B4-BE49-F238E27FC236}">
                <a16:creationId xmlns:a16="http://schemas.microsoft.com/office/drawing/2014/main" id="{B4DCA592-299B-91D5-948C-1BAF76354F14}"/>
              </a:ext>
            </a:extLst>
          </p:cNvPr>
          <p:cNvSpPr txBox="1"/>
          <p:nvPr/>
        </p:nvSpPr>
        <p:spPr>
          <a:xfrm>
            <a:off x="1040130" y="1260067"/>
            <a:ext cx="4815840" cy="1938992"/>
          </a:xfrm>
          <a:prstGeom prst="rect">
            <a:avLst/>
          </a:prstGeom>
          <a:noFill/>
        </p:spPr>
        <p:txBody>
          <a:bodyPr wrap="square" rtlCol="0">
            <a:spAutoFit/>
          </a:bodyPr>
          <a:lstStyle/>
          <a:p>
            <a:r>
              <a:rPr kumimoji="1" lang="en-US" altLang="ja-JP" sz="2000" dirty="0"/>
              <a:t>- </a:t>
            </a:r>
            <a:r>
              <a:rPr kumimoji="1" lang="ja-JP" altLang="en-US" sz="2000" dirty="0"/>
              <a:t>地図表示</a:t>
            </a:r>
            <a:endParaRPr kumimoji="1" lang="en-US" altLang="ja-JP" sz="2000" dirty="0"/>
          </a:p>
          <a:p>
            <a:r>
              <a:rPr lang="en-US" altLang="ja-JP" sz="2000" dirty="0"/>
              <a:t>- </a:t>
            </a:r>
            <a:r>
              <a:rPr lang="ja-JP" altLang="en-US" sz="2000" dirty="0"/>
              <a:t>観光地登録</a:t>
            </a:r>
            <a:endParaRPr lang="en-US" altLang="ja-JP" sz="2000" dirty="0"/>
          </a:p>
          <a:p>
            <a:r>
              <a:rPr lang="en-US" altLang="ja-JP" sz="2000" dirty="0"/>
              <a:t>-</a:t>
            </a:r>
            <a:r>
              <a:rPr lang="ja-JP" altLang="en-US" sz="2000" dirty="0"/>
              <a:t> 観光地の移動時間を自動算出</a:t>
            </a:r>
            <a:endParaRPr lang="en-US" altLang="ja-JP" sz="2000" dirty="0"/>
          </a:p>
          <a:p>
            <a:r>
              <a:rPr lang="en-US" altLang="ja-JP" sz="2000" dirty="0"/>
              <a:t>- </a:t>
            </a:r>
            <a:r>
              <a:rPr lang="ja-JP" altLang="en-US" sz="2000" dirty="0"/>
              <a:t>訪問順序入れ替え</a:t>
            </a:r>
            <a:endParaRPr lang="en-US" altLang="ja-JP" sz="2000" dirty="0"/>
          </a:p>
          <a:p>
            <a:r>
              <a:rPr kumimoji="1" lang="en-US" altLang="ja-JP" sz="2000" dirty="0"/>
              <a:t>- </a:t>
            </a:r>
            <a:r>
              <a:rPr kumimoji="1" lang="ja-JP" altLang="en-US" sz="2000" dirty="0"/>
              <a:t>タブ切り替え</a:t>
            </a:r>
            <a:endParaRPr kumimoji="1" lang="en-US" altLang="ja-JP" sz="2000" dirty="0"/>
          </a:p>
          <a:p>
            <a:endParaRPr lang="en-US" altLang="ja-JP" sz="2000" dirty="0"/>
          </a:p>
        </p:txBody>
      </p:sp>
      <p:pic>
        <p:nvPicPr>
          <p:cNvPr id="7" name="図 6">
            <a:extLst>
              <a:ext uri="{FF2B5EF4-FFF2-40B4-BE49-F238E27FC236}">
                <a16:creationId xmlns:a16="http://schemas.microsoft.com/office/drawing/2014/main" id="{53B07E3F-BC5C-15CC-E220-3B2B3EC77B54}"/>
              </a:ext>
            </a:extLst>
          </p:cNvPr>
          <p:cNvPicPr>
            <a:picLocks noChangeAspect="1"/>
          </p:cNvPicPr>
          <p:nvPr/>
        </p:nvPicPr>
        <p:blipFill>
          <a:blip r:embed="rId3"/>
          <a:stretch>
            <a:fillRect/>
          </a:stretch>
        </p:blipFill>
        <p:spPr>
          <a:xfrm>
            <a:off x="215540" y="3794760"/>
            <a:ext cx="5319479" cy="2646680"/>
          </a:xfrm>
          <a:prstGeom prst="rect">
            <a:avLst/>
          </a:prstGeom>
        </p:spPr>
      </p:pic>
      <p:pic>
        <p:nvPicPr>
          <p:cNvPr id="9" name="図 8">
            <a:extLst>
              <a:ext uri="{FF2B5EF4-FFF2-40B4-BE49-F238E27FC236}">
                <a16:creationId xmlns:a16="http://schemas.microsoft.com/office/drawing/2014/main" id="{5E71DC65-B4EE-5E2E-D021-422DE8991293}"/>
              </a:ext>
            </a:extLst>
          </p:cNvPr>
          <p:cNvPicPr>
            <a:picLocks noChangeAspect="1"/>
          </p:cNvPicPr>
          <p:nvPr/>
        </p:nvPicPr>
        <p:blipFill>
          <a:blip r:embed="rId4"/>
          <a:srcRect b="3200"/>
          <a:stretch>
            <a:fillRect/>
          </a:stretch>
        </p:blipFill>
        <p:spPr>
          <a:xfrm>
            <a:off x="5815509" y="4061111"/>
            <a:ext cx="6293533" cy="2646680"/>
          </a:xfrm>
          <a:prstGeom prst="rect">
            <a:avLst/>
          </a:prstGeom>
        </p:spPr>
      </p:pic>
      <p:pic>
        <p:nvPicPr>
          <p:cNvPr id="11" name="図 10">
            <a:extLst>
              <a:ext uri="{FF2B5EF4-FFF2-40B4-BE49-F238E27FC236}">
                <a16:creationId xmlns:a16="http://schemas.microsoft.com/office/drawing/2014/main" id="{CDE138D5-1C3C-F233-CBE8-A351695CBA8B}"/>
              </a:ext>
            </a:extLst>
          </p:cNvPr>
          <p:cNvPicPr>
            <a:picLocks noChangeAspect="1"/>
          </p:cNvPicPr>
          <p:nvPr/>
        </p:nvPicPr>
        <p:blipFill>
          <a:blip r:embed="rId5"/>
          <a:stretch>
            <a:fillRect/>
          </a:stretch>
        </p:blipFill>
        <p:spPr>
          <a:xfrm>
            <a:off x="8092038" y="3905516"/>
            <a:ext cx="1209844" cy="733527"/>
          </a:xfrm>
          <a:prstGeom prst="rect">
            <a:avLst/>
          </a:prstGeom>
        </p:spPr>
      </p:pic>
      <p:cxnSp>
        <p:nvCxnSpPr>
          <p:cNvPr id="13" name="直線矢印コネクタ 12">
            <a:extLst>
              <a:ext uri="{FF2B5EF4-FFF2-40B4-BE49-F238E27FC236}">
                <a16:creationId xmlns:a16="http://schemas.microsoft.com/office/drawing/2014/main" id="{3A4D17F1-BC7A-5DE0-0565-44A3EDE39874}"/>
              </a:ext>
            </a:extLst>
          </p:cNvPr>
          <p:cNvCxnSpPr>
            <a:cxnSpLocks/>
          </p:cNvCxnSpPr>
          <p:nvPr/>
        </p:nvCxnSpPr>
        <p:spPr>
          <a:xfrm flipV="1">
            <a:off x="5254528" y="5090160"/>
            <a:ext cx="560981" cy="27940"/>
          </a:xfrm>
          <a:prstGeom prst="straightConnector1">
            <a:avLst/>
          </a:prstGeom>
          <a:ln w="762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 name="直線コネクタ 1">
            <a:extLst>
              <a:ext uri="{FF2B5EF4-FFF2-40B4-BE49-F238E27FC236}">
                <a16:creationId xmlns:a16="http://schemas.microsoft.com/office/drawing/2014/main" id="{AE67266D-F630-3AAF-0CCA-EEEF8AA7DA87}"/>
              </a:ext>
            </a:extLst>
          </p:cNvPr>
          <p:cNvCxnSpPr>
            <a:cxnSpLocks/>
          </p:cNvCxnSpPr>
          <p:nvPr/>
        </p:nvCxnSpPr>
        <p:spPr>
          <a:xfrm>
            <a:off x="0" y="965775"/>
            <a:ext cx="12192000" cy="0"/>
          </a:xfrm>
          <a:prstGeom prst="line">
            <a:avLst/>
          </a:prstGeom>
          <a:ln w="76200">
            <a:solidFill>
              <a:schemeClr val="accent5"/>
            </a:solidFill>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2513C64C-FD6F-2127-3409-5F6CCA6D3785}"/>
              </a:ext>
            </a:extLst>
          </p:cNvPr>
          <p:cNvSpPr txBox="1"/>
          <p:nvPr/>
        </p:nvSpPr>
        <p:spPr>
          <a:xfrm>
            <a:off x="297180" y="1263446"/>
            <a:ext cx="1485900" cy="677108"/>
          </a:xfrm>
          <a:prstGeom prst="rect">
            <a:avLst/>
          </a:prstGeom>
          <a:noFill/>
        </p:spPr>
        <p:txBody>
          <a:bodyPr wrap="square" rtlCol="0">
            <a:spAutoFit/>
          </a:bodyPr>
          <a:lstStyle/>
          <a:p>
            <a:r>
              <a:rPr lang="ja-JP" altLang="en-US" sz="2000" dirty="0"/>
              <a:t>機能</a:t>
            </a:r>
            <a:endParaRPr lang="en-US" altLang="ja-JP" sz="2000" dirty="0"/>
          </a:p>
          <a:p>
            <a:endParaRPr kumimoji="1" lang="ja-JP" altLang="en-US" dirty="0"/>
          </a:p>
        </p:txBody>
      </p:sp>
      <p:cxnSp>
        <p:nvCxnSpPr>
          <p:cNvPr id="14" name="直線コネクタ 13">
            <a:extLst>
              <a:ext uri="{FF2B5EF4-FFF2-40B4-BE49-F238E27FC236}">
                <a16:creationId xmlns:a16="http://schemas.microsoft.com/office/drawing/2014/main" id="{D4DA5D23-0E12-C4BC-7767-50EB3CFEB3F1}"/>
              </a:ext>
            </a:extLst>
          </p:cNvPr>
          <p:cNvCxnSpPr/>
          <p:nvPr/>
        </p:nvCxnSpPr>
        <p:spPr>
          <a:xfrm>
            <a:off x="5535018" y="1602000"/>
            <a:ext cx="611505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E479B1D8-2C39-9821-6B48-9C440AF85A31}"/>
              </a:ext>
            </a:extLst>
          </p:cNvPr>
          <p:cNvCxnSpPr/>
          <p:nvPr/>
        </p:nvCxnSpPr>
        <p:spPr>
          <a:xfrm>
            <a:off x="5535018" y="2154450"/>
            <a:ext cx="611505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27FF0D5F-7EF0-26A1-E9FA-AA7ACF62D2E9}"/>
              </a:ext>
            </a:extLst>
          </p:cNvPr>
          <p:cNvCxnSpPr/>
          <p:nvPr/>
        </p:nvCxnSpPr>
        <p:spPr>
          <a:xfrm>
            <a:off x="5535018" y="2716425"/>
            <a:ext cx="611505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 name="直線コネクタ 16">
            <a:extLst>
              <a:ext uri="{FF2B5EF4-FFF2-40B4-BE49-F238E27FC236}">
                <a16:creationId xmlns:a16="http://schemas.microsoft.com/office/drawing/2014/main" id="{C1068821-DE71-4933-DE50-821896F7CEDB}"/>
              </a:ext>
            </a:extLst>
          </p:cNvPr>
          <p:cNvCxnSpPr/>
          <p:nvPr/>
        </p:nvCxnSpPr>
        <p:spPr>
          <a:xfrm>
            <a:off x="5535018" y="3287925"/>
            <a:ext cx="611505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5286C1FE-99CC-DCA0-8224-ECA66A01DB34}"/>
              </a:ext>
            </a:extLst>
          </p:cNvPr>
          <p:cNvSpPr txBox="1"/>
          <p:nvPr/>
        </p:nvSpPr>
        <p:spPr>
          <a:xfrm>
            <a:off x="8162923" y="1732010"/>
            <a:ext cx="3487141" cy="369332"/>
          </a:xfrm>
          <a:prstGeom prst="rect">
            <a:avLst/>
          </a:prstGeom>
          <a:noFill/>
        </p:spPr>
        <p:txBody>
          <a:bodyPr wrap="square" rtlCol="0">
            <a:spAutoFit/>
          </a:bodyPr>
          <a:lstStyle/>
          <a:p>
            <a:pPr algn="ctr"/>
            <a:r>
              <a:rPr lang="en-US" altLang="ja-JP" dirty="0"/>
              <a:t>Google Maps JavaScript API</a:t>
            </a:r>
            <a:endParaRPr kumimoji="1" lang="ja-JP" altLang="en-US" dirty="0"/>
          </a:p>
        </p:txBody>
      </p:sp>
      <p:sp>
        <p:nvSpPr>
          <p:cNvPr id="26" name="テキスト ボックス 25">
            <a:extLst>
              <a:ext uri="{FF2B5EF4-FFF2-40B4-BE49-F238E27FC236}">
                <a16:creationId xmlns:a16="http://schemas.microsoft.com/office/drawing/2014/main" id="{48655F4F-D4AC-E8C3-FD80-D679BE199A5E}"/>
              </a:ext>
            </a:extLst>
          </p:cNvPr>
          <p:cNvSpPr txBox="1"/>
          <p:nvPr/>
        </p:nvSpPr>
        <p:spPr>
          <a:xfrm>
            <a:off x="8092038" y="2284730"/>
            <a:ext cx="3409950" cy="369332"/>
          </a:xfrm>
          <a:prstGeom prst="rect">
            <a:avLst/>
          </a:prstGeom>
          <a:noFill/>
        </p:spPr>
        <p:txBody>
          <a:bodyPr wrap="square" rtlCol="0">
            <a:spAutoFit/>
          </a:bodyPr>
          <a:lstStyle/>
          <a:p>
            <a:pPr algn="ctr"/>
            <a:r>
              <a:rPr lang="en-US" altLang="ja-JP" dirty="0" err="1"/>
              <a:t>Mapbox</a:t>
            </a:r>
            <a:r>
              <a:rPr lang="en-US" altLang="ja-JP" dirty="0"/>
              <a:t> Search Box API</a:t>
            </a:r>
            <a:endParaRPr kumimoji="1" lang="ja-JP" altLang="en-US" dirty="0"/>
          </a:p>
        </p:txBody>
      </p:sp>
      <p:sp>
        <p:nvSpPr>
          <p:cNvPr id="27" name="テキスト ボックス 26">
            <a:extLst>
              <a:ext uri="{FF2B5EF4-FFF2-40B4-BE49-F238E27FC236}">
                <a16:creationId xmlns:a16="http://schemas.microsoft.com/office/drawing/2014/main" id="{F5A21934-47E1-A15F-FCE7-0E57C9C66652}"/>
              </a:ext>
            </a:extLst>
          </p:cNvPr>
          <p:cNvSpPr txBox="1"/>
          <p:nvPr/>
        </p:nvSpPr>
        <p:spPr>
          <a:xfrm>
            <a:off x="8053442" y="2810733"/>
            <a:ext cx="3487141" cy="369332"/>
          </a:xfrm>
          <a:prstGeom prst="rect">
            <a:avLst/>
          </a:prstGeom>
          <a:noFill/>
        </p:spPr>
        <p:txBody>
          <a:bodyPr wrap="square" rtlCol="0">
            <a:spAutoFit/>
          </a:bodyPr>
          <a:lstStyle/>
          <a:p>
            <a:pPr algn="ctr"/>
            <a:r>
              <a:rPr lang="en-US" altLang="ja-JP" dirty="0" err="1"/>
              <a:t>Mapbox</a:t>
            </a:r>
            <a:r>
              <a:rPr lang="en-US" altLang="ja-JP" dirty="0"/>
              <a:t> Directions API</a:t>
            </a:r>
            <a:endParaRPr kumimoji="1" lang="ja-JP" altLang="en-US" dirty="0"/>
          </a:p>
        </p:txBody>
      </p:sp>
      <p:sp>
        <p:nvSpPr>
          <p:cNvPr id="28" name="テキスト ボックス 27">
            <a:extLst>
              <a:ext uri="{FF2B5EF4-FFF2-40B4-BE49-F238E27FC236}">
                <a16:creationId xmlns:a16="http://schemas.microsoft.com/office/drawing/2014/main" id="{4C98849F-5186-29F6-A287-7FADD9B96F83}"/>
              </a:ext>
            </a:extLst>
          </p:cNvPr>
          <p:cNvSpPr txBox="1"/>
          <p:nvPr/>
        </p:nvSpPr>
        <p:spPr>
          <a:xfrm>
            <a:off x="8053437" y="3372707"/>
            <a:ext cx="3377659" cy="369332"/>
          </a:xfrm>
          <a:prstGeom prst="rect">
            <a:avLst/>
          </a:prstGeom>
          <a:noFill/>
        </p:spPr>
        <p:txBody>
          <a:bodyPr wrap="square" rtlCol="0">
            <a:spAutoFit/>
          </a:bodyPr>
          <a:lstStyle/>
          <a:p>
            <a:pPr algn="ctr"/>
            <a:r>
              <a:rPr lang="en-US" altLang="ja-JP" dirty="0" err="1"/>
              <a:t>SortableJS</a:t>
            </a:r>
            <a:endParaRPr kumimoji="1" lang="ja-JP" altLang="en-US" dirty="0"/>
          </a:p>
        </p:txBody>
      </p:sp>
      <p:cxnSp>
        <p:nvCxnSpPr>
          <p:cNvPr id="18" name="直線コネクタ 17">
            <a:extLst>
              <a:ext uri="{FF2B5EF4-FFF2-40B4-BE49-F238E27FC236}">
                <a16:creationId xmlns:a16="http://schemas.microsoft.com/office/drawing/2014/main" id="{347AB781-CECE-73C9-15FA-E44CFE00476C}"/>
              </a:ext>
            </a:extLst>
          </p:cNvPr>
          <p:cNvCxnSpPr>
            <a:cxnSpLocks/>
          </p:cNvCxnSpPr>
          <p:nvPr/>
        </p:nvCxnSpPr>
        <p:spPr>
          <a:xfrm>
            <a:off x="8092038" y="1207083"/>
            <a:ext cx="0" cy="2559737"/>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9023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CFE1C-D6EF-F977-DE32-1FD0F16F4E52}"/>
            </a:ext>
          </a:extLst>
        </p:cNvPr>
        <p:cNvGrpSpPr/>
        <p:nvPr/>
      </p:nvGrpSpPr>
      <p:grpSpPr>
        <a:xfrm>
          <a:off x="0" y="0"/>
          <a:ext cx="0" cy="0"/>
          <a:chOff x="0" y="0"/>
          <a:chExt cx="0" cy="0"/>
        </a:xfrm>
      </p:grpSpPr>
      <p:pic>
        <p:nvPicPr>
          <p:cNvPr id="4" name="図 3">
            <a:extLst>
              <a:ext uri="{FF2B5EF4-FFF2-40B4-BE49-F238E27FC236}">
                <a16:creationId xmlns:a16="http://schemas.microsoft.com/office/drawing/2014/main" id="{9251909D-597B-D5D3-3CF1-A39AD173F97E}"/>
              </a:ext>
            </a:extLst>
          </p:cNvPr>
          <p:cNvPicPr>
            <a:picLocks noChangeAspect="1"/>
          </p:cNvPicPr>
          <p:nvPr/>
        </p:nvPicPr>
        <p:blipFill>
          <a:blip r:embed="rId3"/>
          <a:srcRect l="-1869" r="41441"/>
          <a:stretch>
            <a:fillRect/>
          </a:stretch>
        </p:blipFill>
        <p:spPr>
          <a:xfrm>
            <a:off x="564515" y="707161"/>
            <a:ext cx="3836035" cy="3467310"/>
          </a:xfrm>
          <a:prstGeom prst="rect">
            <a:avLst/>
          </a:prstGeom>
        </p:spPr>
      </p:pic>
      <p:sp>
        <p:nvSpPr>
          <p:cNvPr id="2" name="テキスト ボックス 1">
            <a:extLst>
              <a:ext uri="{FF2B5EF4-FFF2-40B4-BE49-F238E27FC236}">
                <a16:creationId xmlns:a16="http://schemas.microsoft.com/office/drawing/2014/main" id="{A083E636-C87E-E923-0199-4228444FA79B}"/>
              </a:ext>
            </a:extLst>
          </p:cNvPr>
          <p:cNvSpPr txBox="1"/>
          <p:nvPr/>
        </p:nvSpPr>
        <p:spPr>
          <a:xfrm>
            <a:off x="440977" y="285976"/>
            <a:ext cx="2580640" cy="584775"/>
          </a:xfrm>
          <a:prstGeom prst="rect">
            <a:avLst/>
          </a:prstGeom>
          <a:noFill/>
        </p:spPr>
        <p:txBody>
          <a:bodyPr wrap="square" rtlCol="0">
            <a:spAutoFit/>
          </a:bodyPr>
          <a:lstStyle/>
          <a:p>
            <a:r>
              <a:rPr kumimoji="1" lang="ja-JP" altLang="en-US" sz="3200" dirty="0"/>
              <a:t>共有機能</a:t>
            </a:r>
          </a:p>
        </p:txBody>
      </p:sp>
      <p:pic>
        <p:nvPicPr>
          <p:cNvPr id="8" name="図 7">
            <a:extLst>
              <a:ext uri="{FF2B5EF4-FFF2-40B4-BE49-F238E27FC236}">
                <a16:creationId xmlns:a16="http://schemas.microsoft.com/office/drawing/2014/main" id="{3E806ABE-9680-A30A-7F58-2E5FD7709DE9}"/>
              </a:ext>
            </a:extLst>
          </p:cNvPr>
          <p:cNvPicPr>
            <a:picLocks noChangeAspect="1"/>
          </p:cNvPicPr>
          <p:nvPr/>
        </p:nvPicPr>
        <p:blipFill>
          <a:blip r:embed="rId4"/>
          <a:stretch>
            <a:fillRect/>
          </a:stretch>
        </p:blipFill>
        <p:spPr>
          <a:xfrm>
            <a:off x="6114709" y="1447523"/>
            <a:ext cx="4915586" cy="1981477"/>
          </a:xfrm>
          <a:prstGeom prst="rect">
            <a:avLst/>
          </a:prstGeom>
        </p:spPr>
      </p:pic>
      <p:pic>
        <p:nvPicPr>
          <p:cNvPr id="14" name="図 13">
            <a:extLst>
              <a:ext uri="{FF2B5EF4-FFF2-40B4-BE49-F238E27FC236}">
                <a16:creationId xmlns:a16="http://schemas.microsoft.com/office/drawing/2014/main" id="{25F5BD24-C0C4-386A-35E9-2F4B6C2C0D91}"/>
              </a:ext>
            </a:extLst>
          </p:cNvPr>
          <p:cNvPicPr>
            <a:picLocks noChangeAspect="1"/>
          </p:cNvPicPr>
          <p:nvPr/>
        </p:nvPicPr>
        <p:blipFill>
          <a:blip r:embed="rId5"/>
          <a:stretch>
            <a:fillRect/>
          </a:stretch>
        </p:blipFill>
        <p:spPr>
          <a:xfrm>
            <a:off x="6114709" y="4232003"/>
            <a:ext cx="5229566" cy="2241242"/>
          </a:xfrm>
          <a:prstGeom prst="rect">
            <a:avLst/>
          </a:prstGeom>
        </p:spPr>
      </p:pic>
      <p:pic>
        <p:nvPicPr>
          <p:cNvPr id="16" name="図 15">
            <a:extLst>
              <a:ext uri="{FF2B5EF4-FFF2-40B4-BE49-F238E27FC236}">
                <a16:creationId xmlns:a16="http://schemas.microsoft.com/office/drawing/2014/main" id="{FC621B25-B274-1391-31A2-91BD95ADD960}"/>
              </a:ext>
            </a:extLst>
          </p:cNvPr>
          <p:cNvPicPr>
            <a:picLocks noChangeAspect="1"/>
          </p:cNvPicPr>
          <p:nvPr/>
        </p:nvPicPr>
        <p:blipFill>
          <a:blip r:embed="rId6"/>
          <a:stretch>
            <a:fillRect/>
          </a:stretch>
        </p:blipFill>
        <p:spPr>
          <a:xfrm>
            <a:off x="443970" y="4290242"/>
            <a:ext cx="4624596" cy="2090213"/>
          </a:xfrm>
          <a:prstGeom prst="rect">
            <a:avLst/>
          </a:prstGeom>
        </p:spPr>
      </p:pic>
      <p:sp>
        <p:nvSpPr>
          <p:cNvPr id="17" name="テキスト ボックス 16">
            <a:extLst>
              <a:ext uri="{FF2B5EF4-FFF2-40B4-BE49-F238E27FC236}">
                <a16:creationId xmlns:a16="http://schemas.microsoft.com/office/drawing/2014/main" id="{7D39D28B-460A-6C53-A81A-F546F61F85A0}"/>
              </a:ext>
            </a:extLst>
          </p:cNvPr>
          <p:cNvSpPr txBox="1"/>
          <p:nvPr/>
        </p:nvSpPr>
        <p:spPr>
          <a:xfrm>
            <a:off x="564515" y="1025044"/>
            <a:ext cx="8810625" cy="369332"/>
          </a:xfrm>
          <a:prstGeom prst="rect">
            <a:avLst/>
          </a:prstGeom>
          <a:noFill/>
        </p:spPr>
        <p:txBody>
          <a:bodyPr wrap="square" rtlCol="0">
            <a:spAutoFit/>
          </a:bodyPr>
          <a:lstStyle/>
          <a:p>
            <a:r>
              <a:rPr lang="ja-JP" altLang="en-US" dirty="0"/>
              <a:t>ユーザーが作成した旅行計画を他者と共有するためのリンク生成機能を実装</a:t>
            </a:r>
            <a:endParaRPr kumimoji="1" lang="ja-JP" altLang="en-US" dirty="0"/>
          </a:p>
        </p:txBody>
      </p:sp>
      <p:cxnSp>
        <p:nvCxnSpPr>
          <p:cNvPr id="19" name="直線矢印コネクタ 18">
            <a:extLst>
              <a:ext uri="{FF2B5EF4-FFF2-40B4-BE49-F238E27FC236}">
                <a16:creationId xmlns:a16="http://schemas.microsoft.com/office/drawing/2014/main" id="{84E67029-F181-C765-EF9F-95DAB7A76630}"/>
              </a:ext>
            </a:extLst>
          </p:cNvPr>
          <p:cNvCxnSpPr/>
          <p:nvPr/>
        </p:nvCxnSpPr>
        <p:spPr>
          <a:xfrm>
            <a:off x="4969827" y="2238375"/>
            <a:ext cx="878523" cy="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20" name="テキスト ボックス 19">
            <a:extLst>
              <a:ext uri="{FF2B5EF4-FFF2-40B4-BE49-F238E27FC236}">
                <a16:creationId xmlns:a16="http://schemas.microsoft.com/office/drawing/2014/main" id="{89C70B1C-B317-4A19-DC48-A4E2DE2A44D1}"/>
              </a:ext>
            </a:extLst>
          </p:cNvPr>
          <p:cNvSpPr txBox="1"/>
          <p:nvPr/>
        </p:nvSpPr>
        <p:spPr>
          <a:xfrm>
            <a:off x="516782" y="3716131"/>
            <a:ext cx="11557854" cy="369332"/>
          </a:xfrm>
          <a:prstGeom prst="rect">
            <a:avLst/>
          </a:prstGeom>
          <a:noFill/>
        </p:spPr>
        <p:txBody>
          <a:bodyPr wrap="square" rtlCol="0">
            <a:spAutoFit/>
          </a:bodyPr>
          <a:lstStyle/>
          <a:p>
            <a:r>
              <a:rPr lang="ja-JP" altLang="en-US" dirty="0"/>
              <a:t>リンクを受け取った相手は</a:t>
            </a:r>
            <a:r>
              <a:rPr lang="en-US" altLang="ja-JP" dirty="0"/>
              <a:t>, </a:t>
            </a:r>
            <a:r>
              <a:rPr lang="ja-JP" altLang="en-US" dirty="0"/>
              <a:t>共有側が作成したパスワードを入力することで旅行計画の詳細を閲覧できる</a:t>
            </a:r>
            <a:endParaRPr kumimoji="1" lang="ja-JP" altLang="en-US" dirty="0"/>
          </a:p>
        </p:txBody>
      </p:sp>
      <p:cxnSp>
        <p:nvCxnSpPr>
          <p:cNvPr id="21" name="直線矢印コネクタ 20">
            <a:extLst>
              <a:ext uri="{FF2B5EF4-FFF2-40B4-BE49-F238E27FC236}">
                <a16:creationId xmlns:a16="http://schemas.microsoft.com/office/drawing/2014/main" id="{0FE01BF8-BAC0-4558-B0A4-696E13CAEA84}"/>
              </a:ext>
            </a:extLst>
          </p:cNvPr>
          <p:cNvCxnSpPr/>
          <p:nvPr/>
        </p:nvCxnSpPr>
        <p:spPr>
          <a:xfrm>
            <a:off x="5124439" y="5299788"/>
            <a:ext cx="878523" cy="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22" name="直線コネクタ 21">
            <a:extLst>
              <a:ext uri="{FF2B5EF4-FFF2-40B4-BE49-F238E27FC236}">
                <a16:creationId xmlns:a16="http://schemas.microsoft.com/office/drawing/2014/main" id="{97EDE877-B348-DAAC-9C33-F67C2BE37991}"/>
              </a:ext>
            </a:extLst>
          </p:cNvPr>
          <p:cNvCxnSpPr>
            <a:cxnSpLocks/>
          </p:cNvCxnSpPr>
          <p:nvPr/>
        </p:nvCxnSpPr>
        <p:spPr>
          <a:xfrm>
            <a:off x="0" y="870751"/>
            <a:ext cx="12192000" cy="0"/>
          </a:xfrm>
          <a:prstGeom prst="line">
            <a:avLst/>
          </a:prstGeom>
          <a:ln w="7620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8494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69FC7-50CC-43C6-D8CB-9C76CB3A7363}"/>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2EA61D93-076B-D77B-1FC1-59EC82EB6B58}"/>
              </a:ext>
            </a:extLst>
          </p:cNvPr>
          <p:cNvSpPr txBox="1"/>
          <p:nvPr/>
        </p:nvSpPr>
        <p:spPr>
          <a:xfrm>
            <a:off x="416560" y="252095"/>
            <a:ext cx="4084320" cy="584775"/>
          </a:xfrm>
          <a:prstGeom prst="rect">
            <a:avLst/>
          </a:prstGeom>
          <a:noFill/>
        </p:spPr>
        <p:txBody>
          <a:bodyPr wrap="square" rtlCol="0">
            <a:spAutoFit/>
          </a:bodyPr>
          <a:lstStyle/>
          <a:p>
            <a:r>
              <a:rPr lang="ja-JP" altLang="en-US" sz="3200" dirty="0"/>
              <a:t>チェックリスト機能</a:t>
            </a:r>
            <a:endParaRPr kumimoji="1" lang="ja-JP" altLang="en-US" sz="3200" dirty="0"/>
          </a:p>
        </p:txBody>
      </p:sp>
      <p:cxnSp>
        <p:nvCxnSpPr>
          <p:cNvPr id="3" name="直線コネクタ 2">
            <a:extLst>
              <a:ext uri="{FF2B5EF4-FFF2-40B4-BE49-F238E27FC236}">
                <a16:creationId xmlns:a16="http://schemas.microsoft.com/office/drawing/2014/main" id="{3C1E8D75-9084-2240-AB78-F0894AA3F007}"/>
              </a:ext>
            </a:extLst>
          </p:cNvPr>
          <p:cNvCxnSpPr>
            <a:cxnSpLocks/>
          </p:cNvCxnSpPr>
          <p:nvPr/>
        </p:nvCxnSpPr>
        <p:spPr>
          <a:xfrm>
            <a:off x="0" y="965775"/>
            <a:ext cx="12192000" cy="0"/>
          </a:xfrm>
          <a:prstGeom prst="line">
            <a:avLst/>
          </a:prstGeom>
          <a:ln w="76200">
            <a:solidFill>
              <a:schemeClr val="accent5"/>
            </a:solidFill>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D9CAB1E2-4FFC-1D5C-668F-2FECD3C172FB}"/>
              </a:ext>
            </a:extLst>
          </p:cNvPr>
          <p:cNvSpPr txBox="1"/>
          <p:nvPr/>
        </p:nvSpPr>
        <p:spPr>
          <a:xfrm>
            <a:off x="638174" y="1252121"/>
            <a:ext cx="8943975" cy="954107"/>
          </a:xfrm>
          <a:prstGeom prst="rect">
            <a:avLst/>
          </a:prstGeom>
          <a:noFill/>
        </p:spPr>
        <p:txBody>
          <a:bodyPr wrap="square">
            <a:spAutoFit/>
          </a:bodyPr>
          <a:lstStyle/>
          <a:p>
            <a:r>
              <a:rPr lang="ja-JP" altLang="en-US" sz="1800" b="0" i="0" u="none" strike="noStrike" baseline="0" dirty="0">
                <a:latin typeface="HaranoAjiMincho-Regular-Identity-H"/>
              </a:rPr>
              <a:t>旅行準備を効率的に進められるよう</a:t>
            </a:r>
            <a:r>
              <a:rPr lang="en-US" altLang="ja-JP" sz="2000" b="0" i="0" u="none" strike="noStrike" baseline="0" dirty="0">
                <a:latin typeface="CMR12"/>
              </a:rPr>
              <a:t>, </a:t>
            </a:r>
            <a:r>
              <a:rPr lang="ja-JP" altLang="en-US" sz="1800" b="0" i="0" u="none" strike="noStrike" baseline="0" dirty="0">
                <a:latin typeface="HaranoAjiMincho-Regular-Identity-H"/>
              </a:rPr>
              <a:t>チェックリストに関する</a:t>
            </a:r>
            <a:r>
              <a:rPr lang="ja-JP" altLang="en-US" dirty="0">
                <a:latin typeface="HaranoAjiMincho-Regular-Identity-H"/>
              </a:rPr>
              <a:t>複数</a:t>
            </a:r>
            <a:r>
              <a:rPr lang="ja-JP" altLang="en-US" sz="1800" b="0" i="0" u="none" strike="noStrike" baseline="0" dirty="0">
                <a:latin typeface="HaranoAjiMincho-Regular-Identity-H"/>
              </a:rPr>
              <a:t>の機能を実装</a:t>
            </a:r>
            <a:endParaRPr lang="en-US" altLang="ja-JP" sz="1800" b="0" i="0" u="none" strike="noStrike" baseline="0" dirty="0">
              <a:latin typeface="HaranoAjiMincho-Regular-Identity-H"/>
            </a:endParaRPr>
          </a:p>
          <a:p>
            <a:r>
              <a:rPr lang="en-US" altLang="ja-JP" dirty="0"/>
              <a:t>- </a:t>
            </a:r>
            <a:r>
              <a:rPr lang="ja-JP" altLang="en-US" dirty="0"/>
              <a:t>旅行ごとに標準のチェックリスト設定を適用できる機能</a:t>
            </a:r>
            <a:endParaRPr lang="en-US" altLang="ja-JP" dirty="0"/>
          </a:p>
          <a:p>
            <a:r>
              <a:rPr lang="en-US" altLang="ja-JP" dirty="0"/>
              <a:t>- </a:t>
            </a:r>
            <a:r>
              <a:rPr lang="ja-JP" altLang="en-US" dirty="0"/>
              <a:t>各旅行ごとに持ち物や準備項目を自由に編集できるチェックリスト編集機能</a:t>
            </a:r>
          </a:p>
        </p:txBody>
      </p:sp>
      <p:pic>
        <p:nvPicPr>
          <p:cNvPr id="8" name="図 7">
            <a:extLst>
              <a:ext uri="{FF2B5EF4-FFF2-40B4-BE49-F238E27FC236}">
                <a16:creationId xmlns:a16="http://schemas.microsoft.com/office/drawing/2014/main" id="{D8B49535-C28E-96B6-CE81-D236F8241F54}"/>
              </a:ext>
            </a:extLst>
          </p:cNvPr>
          <p:cNvPicPr>
            <a:picLocks noChangeAspect="1"/>
          </p:cNvPicPr>
          <p:nvPr/>
        </p:nvPicPr>
        <p:blipFill>
          <a:blip r:embed="rId3"/>
          <a:stretch>
            <a:fillRect/>
          </a:stretch>
        </p:blipFill>
        <p:spPr>
          <a:xfrm>
            <a:off x="638174" y="2353351"/>
            <a:ext cx="8488224" cy="1351868"/>
          </a:xfrm>
          <a:prstGeom prst="rect">
            <a:avLst/>
          </a:prstGeom>
        </p:spPr>
      </p:pic>
      <p:pic>
        <p:nvPicPr>
          <p:cNvPr id="12" name="図 11">
            <a:extLst>
              <a:ext uri="{FF2B5EF4-FFF2-40B4-BE49-F238E27FC236}">
                <a16:creationId xmlns:a16="http://schemas.microsoft.com/office/drawing/2014/main" id="{F0D7CED2-265E-6480-F0DE-E0C05BA6D8BF}"/>
              </a:ext>
            </a:extLst>
          </p:cNvPr>
          <p:cNvPicPr>
            <a:picLocks noChangeAspect="1"/>
          </p:cNvPicPr>
          <p:nvPr/>
        </p:nvPicPr>
        <p:blipFill>
          <a:blip r:embed="rId4"/>
          <a:stretch>
            <a:fillRect/>
          </a:stretch>
        </p:blipFill>
        <p:spPr>
          <a:xfrm>
            <a:off x="638174" y="4828499"/>
            <a:ext cx="8497460" cy="1351868"/>
          </a:xfrm>
          <a:prstGeom prst="rect">
            <a:avLst/>
          </a:prstGeom>
        </p:spPr>
      </p:pic>
      <p:sp>
        <p:nvSpPr>
          <p:cNvPr id="13" name="テキスト ボックス 12">
            <a:extLst>
              <a:ext uri="{FF2B5EF4-FFF2-40B4-BE49-F238E27FC236}">
                <a16:creationId xmlns:a16="http://schemas.microsoft.com/office/drawing/2014/main" id="{64F75F5F-C0D8-109D-ED48-B8D55BA91A63}"/>
              </a:ext>
            </a:extLst>
          </p:cNvPr>
          <p:cNvSpPr txBox="1"/>
          <p:nvPr/>
        </p:nvSpPr>
        <p:spPr>
          <a:xfrm>
            <a:off x="581024" y="4005442"/>
            <a:ext cx="11610976" cy="646331"/>
          </a:xfrm>
          <a:prstGeom prst="rect">
            <a:avLst/>
          </a:prstGeom>
          <a:noFill/>
        </p:spPr>
        <p:txBody>
          <a:bodyPr wrap="square" rtlCol="0">
            <a:spAutoFit/>
          </a:bodyPr>
          <a:lstStyle/>
          <a:p>
            <a:r>
              <a:rPr lang="ja-JP" altLang="en-US" dirty="0"/>
              <a:t>各項目のチェック状況を保持する機能を実装し</a:t>
            </a:r>
            <a:r>
              <a:rPr lang="en-US" altLang="ja-JP" dirty="0"/>
              <a:t>, </a:t>
            </a:r>
            <a:r>
              <a:rPr lang="ja-JP" altLang="en-US" dirty="0"/>
              <a:t>ユーザーが確認済みの持ち物を記録できる</a:t>
            </a:r>
            <a:r>
              <a:rPr lang="en-US" altLang="ja-JP" dirty="0"/>
              <a:t>. </a:t>
            </a:r>
          </a:p>
          <a:p>
            <a:r>
              <a:rPr lang="ja-JP" altLang="en-US" dirty="0"/>
              <a:t>これにより</a:t>
            </a:r>
            <a:r>
              <a:rPr lang="en-US" altLang="ja-JP" dirty="0"/>
              <a:t>, </a:t>
            </a:r>
            <a:r>
              <a:rPr lang="ja-JP" altLang="en-US" dirty="0"/>
              <a:t>準備の進捗状況を可視化しながら</a:t>
            </a:r>
            <a:r>
              <a:rPr lang="en-US" altLang="ja-JP" dirty="0"/>
              <a:t>, </a:t>
            </a:r>
            <a:r>
              <a:rPr lang="ja-JP" altLang="en-US" dirty="0"/>
              <a:t>持ち物の確認状況を一目で把握できるようになった</a:t>
            </a:r>
            <a:r>
              <a:rPr lang="en-US" altLang="ja-JP" dirty="0"/>
              <a:t>.</a:t>
            </a:r>
            <a:endParaRPr kumimoji="1" lang="ja-JP" altLang="en-US" dirty="0"/>
          </a:p>
        </p:txBody>
      </p:sp>
    </p:spTree>
    <p:extLst>
      <p:ext uri="{BB962C8B-B14F-4D97-AF65-F5344CB8AC3E}">
        <p14:creationId xmlns:p14="http://schemas.microsoft.com/office/powerpoint/2010/main" val="33930237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61B32-730C-EE2D-88E6-0970829A8814}"/>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FEA49626-C9B5-67B7-57B7-6E7F53722946}"/>
              </a:ext>
            </a:extLst>
          </p:cNvPr>
          <p:cNvSpPr txBox="1"/>
          <p:nvPr/>
        </p:nvSpPr>
        <p:spPr>
          <a:xfrm>
            <a:off x="390525" y="285750"/>
            <a:ext cx="1885950" cy="584775"/>
          </a:xfrm>
          <a:prstGeom prst="rect">
            <a:avLst/>
          </a:prstGeom>
          <a:noFill/>
        </p:spPr>
        <p:txBody>
          <a:bodyPr wrap="square" rtlCol="0">
            <a:spAutoFit/>
          </a:bodyPr>
          <a:lstStyle/>
          <a:p>
            <a:r>
              <a:rPr lang="ja-JP" altLang="en-US" sz="3200" dirty="0"/>
              <a:t>参考文献</a:t>
            </a:r>
            <a:endParaRPr kumimoji="1" lang="ja-JP" altLang="en-US" sz="3200" dirty="0"/>
          </a:p>
        </p:txBody>
      </p:sp>
      <p:cxnSp>
        <p:nvCxnSpPr>
          <p:cNvPr id="3" name="直線コネクタ 2">
            <a:extLst>
              <a:ext uri="{FF2B5EF4-FFF2-40B4-BE49-F238E27FC236}">
                <a16:creationId xmlns:a16="http://schemas.microsoft.com/office/drawing/2014/main" id="{9DD82DCB-B7C9-3704-E281-051219A55137}"/>
              </a:ext>
            </a:extLst>
          </p:cNvPr>
          <p:cNvCxnSpPr>
            <a:cxnSpLocks/>
          </p:cNvCxnSpPr>
          <p:nvPr/>
        </p:nvCxnSpPr>
        <p:spPr>
          <a:xfrm>
            <a:off x="0" y="902850"/>
            <a:ext cx="12192000" cy="0"/>
          </a:xfrm>
          <a:prstGeom prst="line">
            <a:avLst/>
          </a:prstGeom>
          <a:ln w="76200">
            <a:solidFill>
              <a:schemeClr val="accent5"/>
            </a:solidFill>
          </a:ln>
        </p:spPr>
        <p:style>
          <a:lnRef idx="1">
            <a:schemeClr val="accent1"/>
          </a:lnRef>
          <a:fillRef idx="0">
            <a:schemeClr val="accent1"/>
          </a:fillRef>
          <a:effectRef idx="0">
            <a:schemeClr val="accent1"/>
          </a:effectRef>
          <a:fontRef idx="minor">
            <a:schemeClr val="tx1"/>
          </a:fontRef>
        </p:style>
      </p:cxnSp>
      <p:sp>
        <p:nvSpPr>
          <p:cNvPr id="4" name="テキスト ボックス 3">
            <a:extLst>
              <a:ext uri="{FF2B5EF4-FFF2-40B4-BE49-F238E27FC236}">
                <a16:creationId xmlns:a16="http://schemas.microsoft.com/office/drawing/2014/main" id="{E3584A2A-A683-128B-242F-7EE9E23F61CD}"/>
              </a:ext>
            </a:extLst>
          </p:cNvPr>
          <p:cNvSpPr txBox="1"/>
          <p:nvPr/>
        </p:nvSpPr>
        <p:spPr>
          <a:xfrm>
            <a:off x="710565" y="1750397"/>
            <a:ext cx="11163300" cy="3262432"/>
          </a:xfrm>
          <a:prstGeom prst="rect">
            <a:avLst/>
          </a:prstGeom>
          <a:noFill/>
        </p:spPr>
        <p:txBody>
          <a:bodyPr wrap="square" rtlCol="0">
            <a:spAutoFit/>
          </a:bodyPr>
          <a:lstStyle/>
          <a:p>
            <a:r>
              <a:rPr lang="en-US" altLang="ja-JP" sz="2400" dirty="0">
                <a:latin typeface="游ゴシック" panose="020B0400000000000000" pitchFamily="50" charset="-128"/>
              </a:rPr>
              <a:t>[1]</a:t>
            </a:r>
            <a:r>
              <a:rPr lang="ja-JP" altLang="en-US" sz="2400" dirty="0">
                <a:latin typeface="游ゴシック" panose="020B0400000000000000" pitchFamily="50" charset="-128"/>
              </a:rPr>
              <a:t>旅しお</a:t>
            </a:r>
            <a:endParaRPr lang="en-US" altLang="ja-JP" sz="2400" dirty="0">
              <a:latin typeface="游ゴシック" panose="020B0400000000000000" pitchFamily="50" charset="-128"/>
            </a:endParaRPr>
          </a:p>
          <a:p>
            <a:r>
              <a:rPr lang="ja-JP" altLang="en-US" sz="2400" dirty="0">
                <a:latin typeface="游ゴシック" panose="020B0400000000000000" pitchFamily="50" charset="-128"/>
                <a:hlinkClick r:id="rId2"/>
              </a:rPr>
              <a:t>旅行のしおりをつくる、仲間とシェア。無料</a:t>
            </a:r>
            <a:r>
              <a:rPr lang="en-US" altLang="ja-JP" sz="2400" dirty="0">
                <a:latin typeface="游ゴシック" panose="020B0400000000000000" pitchFamily="50" charset="-128"/>
                <a:hlinkClick r:id="rId2"/>
              </a:rPr>
              <a:t>WEB</a:t>
            </a:r>
            <a:r>
              <a:rPr lang="ja-JP" altLang="en-US" sz="2400" dirty="0">
                <a:latin typeface="游ゴシック" panose="020B0400000000000000" pitchFamily="50" charset="-128"/>
                <a:hlinkClick r:id="rId2"/>
              </a:rPr>
              <a:t>サービス</a:t>
            </a:r>
            <a:r>
              <a:rPr lang="en-US" altLang="ja-JP" sz="2400" dirty="0">
                <a:latin typeface="游ゴシック" panose="020B0400000000000000" pitchFamily="50" charset="-128"/>
                <a:hlinkClick r:id="rId2"/>
              </a:rPr>
              <a:t>【</a:t>
            </a:r>
            <a:r>
              <a:rPr lang="ja-JP" altLang="en-US" sz="2400" dirty="0">
                <a:latin typeface="游ゴシック" panose="020B0400000000000000" pitchFamily="50" charset="-128"/>
                <a:hlinkClick r:id="rId2"/>
              </a:rPr>
              <a:t>旅しお</a:t>
            </a:r>
            <a:r>
              <a:rPr lang="en-US" altLang="ja-JP" sz="2400" dirty="0">
                <a:latin typeface="游ゴシック" panose="020B0400000000000000" pitchFamily="50" charset="-128"/>
                <a:hlinkClick r:id="rId2"/>
              </a:rPr>
              <a:t>】</a:t>
            </a:r>
            <a:r>
              <a:rPr lang="en-US" altLang="ja-JP" sz="2400" dirty="0">
                <a:latin typeface="游ゴシック" panose="020B0400000000000000" pitchFamily="50" charset="-128"/>
              </a:rPr>
              <a:t>, (2025/09/05 accessed).</a:t>
            </a:r>
          </a:p>
          <a:p>
            <a:endParaRPr lang="en-US" altLang="ja-JP" sz="2400" dirty="0">
              <a:latin typeface="游ゴシック" panose="020B0400000000000000" pitchFamily="50" charset="-128"/>
            </a:endParaRPr>
          </a:p>
          <a:p>
            <a:r>
              <a:rPr lang="en-US" altLang="ja-JP" sz="2400" dirty="0">
                <a:latin typeface="游ゴシック" panose="020B0400000000000000" pitchFamily="50" charset="-128"/>
              </a:rPr>
              <a:t>[2]Django</a:t>
            </a:r>
            <a:r>
              <a:rPr lang="ja-JP" altLang="en-US" sz="2400" dirty="0">
                <a:latin typeface="游ゴシック" panose="020B0400000000000000" pitchFamily="50" charset="-128"/>
              </a:rPr>
              <a:t>ドキュメント</a:t>
            </a:r>
            <a:endParaRPr lang="en-US" altLang="ja-JP" sz="2400" dirty="0">
              <a:latin typeface="游ゴシック" panose="020B0400000000000000" pitchFamily="50" charset="-128"/>
            </a:endParaRPr>
          </a:p>
          <a:p>
            <a:r>
              <a:rPr lang="en-US" altLang="ja-JP" sz="2400" dirty="0">
                <a:hlinkClick r:id="rId3"/>
              </a:rPr>
              <a:t>The web framework for perfectionists with deadlines | Django</a:t>
            </a:r>
            <a:r>
              <a:rPr lang="en-US" altLang="ja-JP" sz="2400" dirty="0">
                <a:latin typeface="游ゴシック" panose="020B0400000000000000" pitchFamily="50" charset="-128"/>
              </a:rPr>
              <a:t>,</a:t>
            </a:r>
          </a:p>
          <a:p>
            <a:r>
              <a:rPr lang="en-US" altLang="ja-JP" sz="2400" dirty="0">
                <a:latin typeface="游ゴシック" panose="020B0400000000000000" pitchFamily="50" charset="-128"/>
              </a:rPr>
              <a:t> (2025/09/05 accessed).</a:t>
            </a:r>
          </a:p>
          <a:p>
            <a:endParaRPr lang="en-US" altLang="ja-JP" sz="2400" dirty="0">
              <a:latin typeface="游ゴシック" panose="020B0400000000000000" pitchFamily="50" charset="-128"/>
            </a:endParaRPr>
          </a:p>
          <a:p>
            <a:endParaRPr kumimoji="1" lang="ja-JP" altLang="en-US" sz="1400" dirty="0"/>
          </a:p>
        </p:txBody>
      </p:sp>
    </p:spTree>
    <p:extLst>
      <p:ext uri="{BB962C8B-B14F-4D97-AF65-F5344CB8AC3E}">
        <p14:creationId xmlns:p14="http://schemas.microsoft.com/office/powerpoint/2010/main" val="4187096032"/>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2529</TotalTime>
  <Words>1316</Words>
  <Application>Microsoft Office PowerPoint</Application>
  <PresentationFormat>ワイド画面</PresentationFormat>
  <Paragraphs>105</Paragraphs>
  <Slides>8</Slides>
  <Notes>6</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8</vt:i4>
      </vt:variant>
    </vt:vector>
  </HeadingPairs>
  <TitlesOfParts>
    <vt:vector size="16" baseType="lpstr">
      <vt:lpstr>CMR10</vt:lpstr>
      <vt:lpstr>CMR12</vt:lpstr>
      <vt:lpstr>HaranoAjiMincho-Regular-Identity-H</vt:lpstr>
      <vt:lpstr>Noto Sans JP Bold</vt:lpstr>
      <vt:lpstr>游ゴシック</vt:lpstr>
      <vt:lpstr>游ゴシック Light</vt:lpstr>
      <vt:lpstr>Arial</vt:lpstr>
      <vt:lpstr>Office テーマ</vt:lpstr>
      <vt:lpstr>デジタル版しおりアプリの開発</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果音 山本</dc:creator>
  <cp:lastModifiedBy>果音 山本</cp:lastModifiedBy>
  <cp:revision>33</cp:revision>
  <dcterms:created xsi:type="dcterms:W3CDTF">2026-02-05T01:00:49Z</dcterms:created>
  <dcterms:modified xsi:type="dcterms:W3CDTF">2026-02-10T08:54:24Z</dcterms:modified>
</cp:coreProperties>
</file>